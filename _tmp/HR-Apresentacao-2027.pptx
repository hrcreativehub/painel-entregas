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e fundo" descr="/tmp/claude-0/-home-claude/c50f86c5-5df3-5d1b-aa04-5149c17347f8/scratchpad/img/capa-videocast-13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adiente" descr="/tmp/claude-0/-home-claude/c50f86c5-5df3-5d1b-aa04-5149c17347f8/scratchpad/deck/photo-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Véu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30D">
              <a:alpha val="55000"/>
            </a:srgbClr>
          </a:solidFill>
          <a:ln w="12700">
            <a:solidFill>
              <a:srgbClr val="1B130D">
                <a:alpha val="0"/>
              </a:srgbClr>
            </a:solidFill>
            <a:prstDash val="solid"/>
          </a:ln>
        </p:spPr>
      </p:sp>
      <p:pic>
        <p:nvPicPr>
          <p:cNvPr id="6" name="Monograma HR" descr="/tmp/claude-0/-home-claude/c50f86c5-5df3-5d1b-aa04-5149c17347f8/scratchpad/deck/monogra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288" y="1874520"/>
            <a:ext cx="2103120" cy="1115568"/>
          </a:xfrm>
          <a:prstGeom prst="rect">
            <a:avLst/>
          </a:prstGeom>
        </p:spPr>
      </p:pic>
      <p:sp>
        <p:nvSpPr>
          <p:cNvPr id="7" name="Marca"/>
          <p:cNvSpPr txBox="1"/>
          <p:nvPr/>
        </p:nvSpPr>
        <p:spPr>
          <a:xfrm>
            <a:off x="0" y="315468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HR CREATIVE HUB</a:t>
            </a:r>
            <a:endParaRPr lang="en-US" sz="4000" dirty="0"/>
          </a:p>
        </p:txBody>
      </p:sp>
      <p:sp>
        <p:nvSpPr>
          <p:cNvPr id="8" name="Eyebrow"/>
          <p:cNvSpPr txBox="1"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APRESENTAÇÃO 2027</a:t>
            </a:r>
            <a:endParaRPr lang="en-US" sz="1100" dirty="0"/>
          </a:p>
        </p:txBody>
      </p:sp>
      <p:sp>
        <p:nvSpPr>
          <p:cNvPr id="9" name="Tagline"/>
          <p:cNvSpPr txBox="1"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Produtora de vídeo e agência de marketing</a:t>
            </a:r>
            <a:pPr algn="ctr" indent="0" marL="0">
              <a:buNone/>
            </a:pPr>
            <a:r>
              <a:rPr lang="en-US" sz="15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Rio de Janeiro e São Paulo</a:t>
            </a:r>
            <a:endParaRPr lang="en-US" sz="1500" dirty="0"/>
          </a:p>
        </p:txBody>
      </p:sp>
      <p:sp>
        <p:nvSpPr>
          <p:cNvPr id="10" name="Assinatura"/>
          <p:cNvSpPr txBox="1"/>
          <p:nvPr/>
        </p:nvSpPr>
        <p:spPr>
          <a:xfrm>
            <a:off x="6858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Criatividade intencional para marcas que precisam ser entendidas.</a:t>
            </a:r>
            <a:endParaRPr lang="en-US" sz="950" dirty="0"/>
          </a:p>
        </p:txBody>
      </p:sp>
      <p:sp>
        <p:nvSpPr>
          <p:cNvPr id="11" name="Site"/>
          <p:cNvSpPr txBox="1"/>
          <p:nvPr/>
        </p:nvSpPr>
        <p:spPr>
          <a:xfrm>
            <a:off x="8762695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hrcreativehub.com.br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AGÊNCIA E PRODUTORA</a:t>
            </a:r>
            <a:endParaRPr lang="en-US" sz="105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12801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Pensa como agência,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entrega como </a:t>
            </a:r>
            <a:pPr algn="l" indent="0" marL="0">
              <a:lnSpc>
                <a:spcPct val="100000"/>
              </a:lnSpc>
              <a:buNone/>
            </a:pPr>
            <a:r>
              <a:rPr lang="en-US" sz="38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produtora.</a:t>
            </a:r>
            <a:endParaRPr lang="en-US" sz="3800" dirty="0"/>
          </a:p>
        </p:txBody>
      </p:sp>
      <p:sp>
        <p:nvSpPr>
          <p:cNvPr id="6" name="Texto"/>
          <p:cNvSpPr txBox="1"/>
          <p:nvPr/>
        </p:nvSpPr>
        <p:spPr>
          <a:xfrm>
            <a:off x="685800" y="33375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Agências planejam. Produtoras executam. Entre uma e outra, a mensagem costuma se perder.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HR, quem pensa a ideia está no set e na ilha de edição. Estratégia, filme, conteúdo e design sob a mesma direção.</a:t>
            </a:r>
            <a:endParaRPr lang="en-US" sz="1400" dirty="0"/>
          </a:p>
        </p:txBody>
      </p:sp>
      <p:sp>
        <p:nvSpPr>
          <p:cNvPr id="7" name="Fechamento"/>
          <p:cNvSpPr txBox="1"/>
          <p:nvPr/>
        </p:nvSpPr>
        <p:spPr>
          <a:xfrm>
            <a:off x="685800" y="5074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spc="-8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 só parceiro </a:t>
            </a:r>
            <a:pPr indent="0" marL="0">
              <a:buNone/>
            </a:pPr>
            <a:r>
              <a:rPr lang="en-US" sz="2000" spc="-8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 roteiro à entrega final.</a:t>
            </a:r>
            <a:endParaRPr lang="en-US" sz="2000" dirty="0"/>
          </a:p>
        </p:txBody>
      </p:sp>
      <p:sp>
        <p:nvSpPr>
          <p:cNvPr id="8" name="Linha"/>
          <p:cNvSpPr/>
          <p:nvPr/>
        </p:nvSpPr>
        <p:spPr>
          <a:xfrm>
            <a:off x="7406640" y="1325880"/>
            <a:ext cx="409925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9" name="Número 01"/>
          <p:cNvSpPr txBox="1"/>
          <p:nvPr/>
        </p:nvSpPr>
        <p:spPr>
          <a:xfrm>
            <a:off x="7406640" y="1581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Item 01"/>
          <p:cNvSpPr txBox="1"/>
          <p:nvPr/>
        </p:nvSpPr>
        <p:spPr>
          <a:xfrm>
            <a:off x="7406640" y="187452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fluxo, uma equipe</a:t>
            </a:r>
            <a:endParaRPr lang="en-US" sz="1500" dirty="0"/>
          </a:p>
        </p:txBody>
      </p:sp>
      <p:sp>
        <p:nvSpPr>
          <p:cNvPr id="11" name="Descrição 01"/>
          <p:cNvSpPr txBox="1"/>
          <p:nvPr/>
        </p:nvSpPr>
        <p:spPr>
          <a:xfrm>
            <a:off x="7406640" y="2240280"/>
            <a:ext cx="4099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Roteiro, captação, pós e design no mesmo time. Você fala com uma pessoa e acompanha tudo.</a:t>
            </a:r>
            <a:endParaRPr lang="en-US" sz="1150" dirty="0"/>
          </a:p>
        </p:txBody>
      </p:sp>
      <p:sp>
        <p:nvSpPr>
          <p:cNvPr id="12" name="Linha"/>
          <p:cNvSpPr/>
          <p:nvPr/>
        </p:nvSpPr>
        <p:spPr>
          <a:xfrm>
            <a:off x="7406640" y="2898648"/>
            <a:ext cx="409925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13" name="Número 02"/>
          <p:cNvSpPr txBox="1"/>
          <p:nvPr/>
        </p:nvSpPr>
        <p:spPr>
          <a:xfrm>
            <a:off x="74066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Item 02"/>
          <p:cNvSpPr txBox="1"/>
          <p:nvPr/>
        </p:nvSpPr>
        <p:spPr>
          <a:xfrm>
            <a:off x="7406640" y="3447288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 é inegociável</a:t>
            </a:r>
            <a:endParaRPr lang="en-US" sz="1500" dirty="0"/>
          </a:p>
        </p:txBody>
      </p:sp>
      <p:sp>
        <p:nvSpPr>
          <p:cNvPr id="15" name="Descrição 02"/>
          <p:cNvSpPr txBox="1"/>
          <p:nvPr/>
        </p:nvSpPr>
        <p:spPr>
          <a:xfrm>
            <a:off x="7406640" y="3813048"/>
            <a:ext cx="4099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Cronograma fechado antes da primeira diária e cumprido até o último arquivo.</a:t>
            </a:r>
            <a:endParaRPr lang="en-US" sz="1150" dirty="0"/>
          </a:p>
        </p:txBody>
      </p:sp>
      <p:sp>
        <p:nvSpPr>
          <p:cNvPr id="16" name="Linha"/>
          <p:cNvSpPr/>
          <p:nvPr/>
        </p:nvSpPr>
        <p:spPr>
          <a:xfrm>
            <a:off x="7406640" y="4471416"/>
            <a:ext cx="409925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17" name="Número 03"/>
          <p:cNvSpPr txBox="1"/>
          <p:nvPr/>
        </p:nvSpPr>
        <p:spPr>
          <a:xfrm>
            <a:off x="7406640" y="4727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Item 03"/>
          <p:cNvSpPr txBox="1"/>
          <p:nvPr/>
        </p:nvSpPr>
        <p:spPr>
          <a:xfrm>
            <a:off x="7406640" y="5020056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Relação próxima</a:t>
            </a:r>
            <a:endParaRPr lang="en-US" sz="1500" dirty="0"/>
          </a:p>
        </p:txBody>
      </p:sp>
      <p:sp>
        <p:nvSpPr>
          <p:cNvPr id="19" name="Descrição 03"/>
          <p:cNvSpPr txBox="1"/>
          <p:nvPr/>
        </p:nvSpPr>
        <p:spPr>
          <a:xfrm>
            <a:off x="7406640" y="5385816"/>
            <a:ext cx="4099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gente ouve, ajusta e acompanha. Muitos clientes começam com um projeto e ficam por temporadas.</a:t>
            </a:r>
            <a:endParaRPr lang="en-US" sz="1150" dirty="0"/>
          </a:p>
        </p:txBody>
      </p:sp>
      <p:sp>
        <p:nvSpPr>
          <p:cNvPr id="20" name="Linha"/>
          <p:cNvSpPr/>
          <p:nvPr/>
        </p:nvSpPr>
        <p:spPr>
          <a:xfrm>
            <a:off x="7406640" y="6044184"/>
            <a:ext cx="409925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21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09</a:t>
            </a:r>
            <a:endParaRPr lang="en-US" sz="900" dirty="0"/>
          </a:p>
        </p:txBody>
      </p:sp>
      <p:sp>
        <p:nvSpPr>
          <p:cNvPr id="22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arca d'água HR" descr="/tmp/claude-0/-home-claude/c50f86c5-5df3-5d1b-aa04-5149c17347f8/scratchpad/deck/monograma-ink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1463040" y="1097280"/>
            <a:ext cx="8412480" cy="4453128"/>
          </a:xfrm>
          <a:prstGeom prst="rect">
            <a:avLst/>
          </a:prstGeom>
        </p:spPr>
      </p:pic>
      <p:pic>
        <p:nvPicPr>
          <p:cNvPr id="4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1B13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O QUE NOS GUIA</a:t>
            </a:r>
            <a:endParaRPr lang="en-US" sz="1050" dirty="0"/>
          </a:p>
        </p:txBody>
      </p:sp>
      <p:sp>
        <p:nvSpPr>
          <p:cNvPr id="6" name="Título"/>
          <p:cNvSpPr txBox="1"/>
          <p:nvPr/>
        </p:nvSpPr>
        <p:spPr>
          <a:xfrm>
            <a:off x="685800" y="14173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0" spc="-150" kern="0" dirty="0">
                <a:solidFill>
                  <a:srgbClr val="1B130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Criatividade</a:t>
            </a:r>
            <a:endParaRPr lang="en-US" sz="6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4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intencional.</a:t>
            </a:r>
            <a:endParaRPr lang="en-US" sz="6400" dirty="0"/>
          </a:p>
        </p:txBody>
      </p:sp>
      <p:sp>
        <p:nvSpPr>
          <p:cNvPr id="7" name="Texto"/>
          <p:cNvSpPr txBox="1"/>
          <p:nvPr/>
        </p:nvSpPr>
        <p:spPr>
          <a:xfrm>
            <a:off x="685800" y="37947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217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Belo pelo funcional. Criativo pela intenção.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217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mensagem certa, pelo melhor ângulo, para as pessoas certas. Não é estética por vaidade: é comunicação que faz a marca ser entendida.</a:t>
            </a:r>
            <a:endParaRPr lang="en-US" sz="1500" dirty="0"/>
          </a:p>
        </p:txBody>
      </p:sp>
      <p:sp>
        <p:nvSpPr>
          <p:cNvPr id="8" name="Fechamento"/>
          <p:cNvSpPr txBox="1"/>
          <p:nvPr/>
        </p:nvSpPr>
        <p:spPr>
          <a:xfrm>
            <a:off x="685800" y="5486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-60" kern="0" dirty="0">
                <a:solidFill>
                  <a:srgbClr val="1B130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Uma marca que comunica com intenção se destaca sem esforço.</a:t>
            </a:r>
            <a:endParaRPr lang="en-US" sz="1700" dirty="0"/>
          </a:p>
        </p:txBody>
      </p:sp>
      <p:pic>
        <p:nvPicPr>
          <p:cNvPr id="9" name="Retrato" descr="/tmp/claude-0/-home-claude/c50f86c5-5df3-5d1b-aa04-5149c17347f8/scratchpad/deck/cache/solucao-fotografia-760-1063x1258-35-atten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822960"/>
            <a:ext cx="4416552" cy="5230368"/>
          </a:xfrm>
          <a:prstGeom prst="rect">
            <a:avLst/>
          </a:prstGeom>
        </p:spPr>
      </p:pic>
      <p:sp>
        <p:nvSpPr>
          <p:cNvPr id="10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421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09</a:t>
            </a:r>
            <a:endParaRPr lang="en-US" sz="900" dirty="0"/>
          </a:p>
        </p:txBody>
      </p:sp>
      <p:sp>
        <p:nvSpPr>
          <p:cNvPr id="11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21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SOLUÇÕES</a:t>
            </a:r>
            <a:endParaRPr lang="en-US" sz="105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a sua marca precisa comunicar, 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HR produz.</a:t>
            </a:r>
            <a:endParaRPr lang="en-US" sz="3000" dirty="0"/>
          </a:p>
        </p:txBody>
      </p:sp>
      <p:sp>
        <p:nvSpPr>
          <p:cNvPr id="6" name="Card 01"/>
          <p:cNvSpPr/>
          <p:nvPr/>
        </p:nvSpPr>
        <p:spPr>
          <a:xfrm>
            <a:off x="685800" y="196596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7" name="Imagem Filmes e campanhas" descr="/tmp/claude-0/-home-claude/c50f86c5-5df3-5d1b-aa04-5149c17347f8/scratchpad/deck/cache/vimeo_1195394293-763x198-18-cent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93976"/>
            <a:ext cx="3172968" cy="822960"/>
          </a:xfrm>
          <a:prstGeom prst="rect">
            <a:avLst/>
          </a:prstGeom>
        </p:spPr>
      </p:pic>
      <p:sp>
        <p:nvSpPr>
          <p:cNvPr id="8" name="Número 01"/>
          <p:cNvSpPr txBox="1"/>
          <p:nvPr/>
        </p:nvSpPr>
        <p:spPr>
          <a:xfrm>
            <a:off x="886968" y="3008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ítulo Filmes e campanhas"/>
          <p:cNvSpPr txBox="1"/>
          <p:nvPr/>
        </p:nvSpPr>
        <p:spPr>
          <a:xfrm>
            <a:off x="886968" y="31729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Filmes e campanhas</a:t>
            </a:r>
            <a:endParaRPr lang="en-US" sz="1350" dirty="0"/>
          </a:p>
        </p:txBody>
      </p:sp>
      <p:sp>
        <p:nvSpPr>
          <p:cNvPr id="10" name="Descrição Filmes e campanhas"/>
          <p:cNvSpPr txBox="1"/>
          <p:nvPr/>
        </p:nvSpPr>
        <p:spPr>
          <a:xfrm>
            <a:off x="886968" y="3429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Institucional, campanha, video case e employer branding.</a:t>
            </a:r>
            <a:endParaRPr lang="en-US" sz="1000" dirty="0"/>
          </a:p>
        </p:txBody>
      </p:sp>
      <p:sp>
        <p:nvSpPr>
          <p:cNvPr id="11" name="Card 02"/>
          <p:cNvSpPr/>
          <p:nvPr/>
        </p:nvSpPr>
        <p:spPr>
          <a:xfrm>
            <a:off x="4379976" y="196596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12" name="Imagem Cobertura de eventos" descr="/tmp/claude-0/-home-claude/c50f86c5-5df3-5d1b-aa04-5149c17347f8/scratchpad/deck/cache/solucao-eventos-1120-763x198-18-cent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093976"/>
            <a:ext cx="3172968" cy="822960"/>
          </a:xfrm>
          <a:prstGeom prst="rect">
            <a:avLst/>
          </a:prstGeom>
        </p:spPr>
      </p:pic>
      <p:sp>
        <p:nvSpPr>
          <p:cNvPr id="13" name="Número 02"/>
          <p:cNvSpPr txBox="1"/>
          <p:nvPr/>
        </p:nvSpPr>
        <p:spPr>
          <a:xfrm>
            <a:off x="4581144" y="3008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ítulo Cobertura de eventos"/>
          <p:cNvSpPr txBox="1"/>
          <p:nvPr/>
        </p:nvSpPr>
        <p:spPr>
          <a:xfrm>
            <a:off x="4581144" y="31729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de eventos</a:t>
            </a:r>
            <a:endParaRPr lang="en-US" sz="1350" dirty="0"/>
          </a:p>
        </p:txBody>
      </p:sp>
      <p:sp>
        <p:nvSpPr>
          <p:cNvPr id="15" name="Descrição Cobertura de eventos"/>
          <p:cNvSpPr txBox="1"/>
          <p:nvPr/>
        </p:nvSpPr>
        <p:spPr>
          <a:xfrm>
            <a:off x="4581144" y="3429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Aftermovie, Reels, stories e fotografia, com edição no local.</a:t>
            </a:r>
            <a:endParaRPr lang="en-US" sz="1000" dirty="0"/>
          </a:p>
        </p:txBody>
      </p:sp>
      <p:sp>
        <p:nvSpPr>
          <p:cNvPr id="16" name="Card 03"/>
          <p:cNvSpPr/>
          <p:nvPr/>
        </p:nvSpPr>
        <p:spPr>
          <a:xfrm>
            <a:off x="8074152" y="196596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17" name="Imagem Videocast e podcast" descr="/tmp/claude-0/-home-claude/c50f86c5-5df3-5d1b-aa04-5149c17347f8/scratchpad/deck/cache/solucao-videocast-760-763x198-18-cent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2093976"/>
            <a:ext cx="3172968" cy="822960"/>
          </a:xfrm>
          <a:prstGeom prst="rect">
            <a:avLst/>
          </a:prstGeom>
        </p:spPr>
      </p:pic>
      <p:sp>
        <p:nvSpPr>
          <p:cNvPr id="18" name="Número 03"/>
          <p:cNvSpPr txBox="1"/>
          <p:nvPr/>
        </p:nvSpPr>
        <p:spPr>
          <a:xfrm>
            <a:off x="8275320" y="3008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ítulo Videocast e podcast"/>
          <p:cNvSpPr txBox="1"/>
          <p:nvPr/>
        </p:nvSpPr>
        <p:spPr>
          <a:xfrm>
            <a:off x="8275320" y="31729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Videocast e podcast</a:t>
            </a:r>
            <a:endParaRPr lang="en-US" sz="1350" dirty="0"/>
          </a:p>
        </p:txBody>
      </p:sp>
      <p:sp>
        <p:nvSpPr>
          <p:cNvPr id="20" name="Descrição Videocast e podcast"/>
          <p:cNvSpPr txBox="1"/>
          <p:nvPr/>
        </p:nvSpPr>
        <p:spPr>
          <a:xfrm>
            <a:off x="8275320" y="3429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completo, captação multicâmera, temporadas e cortes.</a:t>
            </a:r>
            <a:endParaRPr lang="en-US" sz="1000" dirty="0"/>
          </a:p>
        </p:txBody>
      </p:sp>
      <p:sp>
        <p:nvSpPr>
          <p:cNvPr id="21" name="Card 04"/>
          <p:cNvSpPr/>
          <p:nvPr/>
        </p:nvSpPr>
        <p:spPr>
          <a:xfrm>
            <a:off x="685800" y="406908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22" name="Imagem Fotografia" descr="/tmp/claude-0/-home-claude/c50f86c5-5df3-5d1b-aa04-5149c17347f8/scratchpad/deck/cache/equipe-estande-1600-763x198-18-cent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197096"/>
            <a:ext cx="3172968" cy="822960"/>
          </a:xfrm>
          <a:prstGeom prst="rect">
            <a:avLst/>
          </a:prstGeom>
        </p:spPr>
      </p:pic>
      <p:sp>
        <p:nvSpPr>
          <p:cNvPr id="23" name="Número 04"/>
          <p:cNvSpPr txBox="1"/>
          <p:nvPr/>
        </p:nvSpPr>
        <p:spPr>
          <a:xfrm>
            <a:off x="886968" y="5111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ítulo Fotografia"/>
          <p:cNvSpPr txBox="1"/>
          <p:nvPr/>
        </p:nvSpPr>
        <p:spPr>
          <a:xfrm>
            <a:off x="886968" y="52760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Fotografia</a:t>
            </a:r>
            <a:endParaRPr lang="en-US" sz="1350" dirty="0"/>
          </a:p>
        </p:txBody>
      </p:sp>
      <p:sp>
        <p:nvSpPr>
          <p:cNvPr id="25" name="Descrição Fotografia"/>
          <p:cNvSpPr txBox="1"/>
          <p:nvPr/>
        </p:nvSpPr>
        <p:spPr>
          <a:xfrm>
            <a:off x="886968" y="55321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Eventos, campanhas, still de produto e retrato corporativo.</a:t>
            </a:r>
            <a:endParaRPr lang="en-US" sz="1000" dirty="0"/>
          </a:p>
        </p:txBody>
      </p:sp>
      <p:sp>
        <p:nvSpPr>
          <p:cNvPr id="26" name="Card 05"/>
          <p:cNvSpPr/>
          <p:nvPr/>
        </p:nvSpPr>
        <p:spPr>
          <a:xfrm>
            <a:off x="4379976" y="406908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27" name="Imagem Design" descr="/tmp/claude-0/-home-claude/c50f86c5-5df3-5d1b-aa04-5149c17347f8/scratchpad/deck/cache/vimeo_1195393084-763x198-18-cent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4197096"/>
            <a:ext cx="3172968" cy="822960"/>
          </a:xfrm>
          <a:prstGeom prst="rect">
            <a:avLst/>
          </a:prstGeom>
        </p:spPr>
      </p:pic>
      <p:sp>
        <p:nvSpPr>
          <p:cNvPr id="28" name="Número 05"/>
          <p:cNvSpPr txBox="1"/>
          <p:nvPr/>
        </p:nvSpPr>
        <p:spPr>
          <a:xfrm>
            <a:off x="4581144" y="5111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ítulo Design"/>
          <p:cNvSpPr txBox="1"/>
          <p:nvPr/>
        </p:nvSpPr>
        <p:spPr>
          <a:xfrm>
            <a:off x="4581144" y="52760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1350" dirty="0"/>
          </a:p>
        </p:txBody>
      </p:sp>
      <p:sp>
        <p:nvSpPr>
          <p:cNvPr id="30" name="Descrição Design"/>
          <p:cNvSpPr txBox="1"/>
          <p:nvPr/>
        </p:nvSpPr>
        <p:spPr>
          <a:xfrm>
            <a:off x="4581144" y="55321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 visual, key visual, motion e apresentações.</a:t>
            </a:r>
            <a:endParaRPr lang="en-US" sz="1000" dirty="0"/>
          </a:p>
        </p:txBody>
      </p:sp>
      <p:sp>
        <p:nvSpPr>
          <p:cNvPr id="31" name="Card 06"/>
          <p:cNvSpPr/>
          <p:nvPr/>
        </p:nvSpPr>
        <p:spPr>
          <a:xfrm>
            <a:off x="8074152" y="4069080"/>
            <a:ext cx="3429000" cy="1920240"/>
          </a:xfrm>
          <a:prstGeom prst="roundRect">
            <a:avLst>
              <a:gd name="adj" fmla="val 7619"/>
            </a:avLst>
          </a:prstGeom>
          <a:solidFill>
            <a:srgbClr val="2A1E15"/>
          </a:solidFill>
          <a:ln w="9525">
            <a:solidFill>
              <a:srgbClr val="3A2C21"/>
            </a:solidFill>
            <a:prstDash val="solid"/>
          </a:ln>
        </p:spPr>
      </p:sp>
      <p:pic>
        <p:nvPicPr>
          <p:cNvPr id="32" name="Imagem Conteúdo recorrente" descr="/tmp/claude-0/-home-claude/c50f86c5-5df3-5d1b-aa04-5149c17347f8/scratchpad/deck/cache/recorrente-set-1200-763x198-18-cent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4197096"/>
            <a:ext cx="3172968" cy="822960"/>
          </a:xfrm>
          <a:prstGeom prst="rect">
            <a:avLst/>
          </a:prstGeom>
        </p:spPr>
      </p:pic>
      <p:sp>
        <p:nvSpPr>
          <p:cNvPr id="33" name="Número 06"/>
          <p:cNvSpPr txBox="1"/>
          <p:nvPr/>
        </p:nvSpPr>
        <p:spPr>
          <a:xfrm>
            <a:off x="8275320" y="5111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ítulo Conteúdo recorrente"/>
          <p:cNvSpPr txBox="1"/>
          <p:nvPr/>
        </p:nvSpPr>
        <p:spPr>
          <a:xfrm>
            <a:off x="8275320" y="52760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 recorrente</a:t>
            </a:r>
            <a:endParaRPr lang="en-US" sz="1350" dirty="0"/>
          </a:p>
        </p:txBody>
      </p:sp>
      <p:sp>
        <p:nvSpPr>
          <p:cNvPr id="35" name="Descrição Conteúdo recorrente"/>
          <p:cNvSpPr txBox="1"/>
          <p:nvPr/>
        </p:nvSpPr>
        <p:spPr>
          <a:xfrm>
            <a:off x="8275320" y="55321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 mensal de vídeos para redes, sem equipe interna.</a:t>
            </a:r>
            <a:endParaRPr lang="en-US" sz="1000" dirty="0"/>
          </a:p>
        </p:txBody>
      </p:sp>
      <p:sp>
        <p:nvSpPr>
          <p:cNvPr id="36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900" dirty="0"/>
          </a:p>
        </p:txBody>
      </p:sp>
      <p:sp>
        <p:nvSpPr>
          <p:cNvPr id="37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b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Set recorrente" descr="/tmp/claude-0/-home-claude/c50f86c5-5df3-5d1b-aa04-5149c17347f8/scratchpad/deck/cache/recorrente-set-1200-1122x1221-35-cent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8680"/>
            <a:ext cx="4663440" cy="5074920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59893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CONTEÚDO RECORRENTE</a:t>
            </a:r>
            <a:endParaRPr lang="en-US" sz="1050" dirty="0"/>
          </a:p>
        </p:txBody>
      </p:sp>
      <p:sp>
        <p:nvSpPr>
          <p:cNvPr id="6" name="Título"/>
          <p:cNvSpPr txBox="1"/>
          <p:nvPr/>
        </p:nvSpPr>
        <p:spPr>
          <a:xfrm>
            <a:off x="5989320" y="1234440"/>
            <a:ext cx="5516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 dia de gravação. 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Até 30 dias de conteúdo.</a:t>
            </a:r>
            <a:endParaRPr lang="en-US" sz="3000" dirty="0"/>
          </a:p>
        </p:txBody>
      </p:sp>
      <p:sp>
        <p:nvSpPr>
          <p:cNvPr id="7" name="Texto"/>
          <p:cNvSpPr txBox="1"/>
          <p:nvPr/>
        </p:nvSpPr>
        <p:spPr>
          <a:xfrm>
            <a:off x="5989320" y="251460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especialistas e marcas que já têm o negócio validado, mas não têm tempo para produzir, ou têm um feed que não reflete a qualidade do próprio trabalho.</a:t>
            </a:r>
            <a:endParaRPr lang="en-US" sz="1250" dirty="0"/>
          </a:p>
        </p:txBody>
      </p:sp>
      <p:sp>
        <p:nvSpPr>
          <p:cNvPr id="8" name="Linha"/>
          <p:cNvSpPr/>
          <p:nvPr/>
        </p:nvSpPr>
        <p:spPr>
          <a:xfrm>
            <a:off x="5989320" y="3474720"/>
            <a:ext cx="551657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9" name="Número 01"/>
          <p:cNvSpPr txBox="1"/>
          <p:nvPr/>
        </p:nvSpPr>
        <p:spPr>
          <a:xfrm>
            <a:off x="598932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Item 01"/>
          <p:cNvSpPr txBox="1"/>
          <p:nvPr/>
        </p:nvSpPr>
        <p:spPr>
          <a:xfrm>
            <a:off x="5989320" y="3995928"/>
            <a:ext cx="1686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1" name="Descrição 01"/>
          <p:cNvSpPr txBox="1"/>
          <p:nvPr/>
        </p:nvSpPr>
        <p:spPr>
          <a:xfrm>
            <a:off x="5989320" y="4361688"/>
            <a:ext cx="1686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Posicionamento, público, pilares e tom de voz antes de ligar a câmera.</a:t>
            </a:r>
            <a:endParaRPr lang="en-US" sz="1000" dirty="0"/>
          </a:p>
        </p:txBody>
      </p:sp>
      <p:sp>
        <p:nvSpPr>
          <p:cNvPr id="12" name="Número 02"/>
          <p:cNvSpPr txBox="1"/>
          <p:nvPr/>
        </p:nvSpPr>
        <p:spPr>
          <a:xfrm>
            <a:off x="7904378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Item 02"/>
          <p:cNvSpPr txBox="1"/>
          <p:nvPr/>
        </p:nvSpPr>
        <p:spPr>
          <a:xfrm>
            <a:off x="7904378" y="3995928"/>
            <a:ext cx="1686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Gravação dirigida</a:t>
            </a:r>
            <a:endParaRPr lang="en-US" sz="1250" dirty="0"/>
          </a:p>
        </p:txBody>
      </p:sp>
      <p:sp>
        <p:nvSpPr>
          <p:cNvPr id="14" name="Descrição 02"/>
          <p:cNvSpPr txBox="1"/>
          <p:nvPr/>
        </p:nvSpPr>
        <p:spPr>
          <a:xfrm>
            <a:off x="7904378" y="4361688"/>
            <a:ext cx="1686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Sessão mensal com direção de enquadramento, postura e ritmo.</a:t>
            </a:r>
            <a:endParaRPr lang="en-US" sz="1000" dirty="0"/>
          </a:p>
        </p:txBody>
      </p:sp>
      <p:sp>
        <p:nvSpPr>
          <p:cNvPr id="15" name="Número 03"/>
          <p:cNvSpPr txBox="1"/>
          <p:nvPr/>
        </p:nvSpPr>
        <p:spPr>
          <a:xfrm>
            <a:off x="9819437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Item 03"/>
          <p:cNvSpPr txBox="1"/>
          <p:nvPr/>
        </p:nvSpPr>
        <p:spPr>
          <a:xfrm>
            <a:off x="9819437" y="3995928"/>
            <a:ext cx="1686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5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HR cuida do resto</a:t>
            </a:r>
            <a:endParaRPr lang="en-US" sz="1250" dirty="0"/>
          </a:p>
        </p:txBody>
      </p:sp>
      <p:sp>
        <p:nvSpPr>
          <p:cNvPr id="17" name="Descrição 03"/>
          <p:cNvSpPr txBox="1"/>
          <p:nvPr/>
        </p:nvSpPr>
        <p:spPr>
          <a:xfrm>
            <a:off x="9819437" y="4361688"/>
            <a:ext cx="1686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Edição, legendas, cortes, planejamento de posts e relatório mensal.</a:t>
            </a:r>
            <a:endParaRPr lang="en-US" sz="1000" dirty="0"/>
          </a:p>
        </p:txBody>
      </p:sp>
      <p:sp>
        <p:nvSpPr>
          <p:cNvPr id="18" name="Linha"/>
          <p:cNvSpPr/>
          <p:nvPr/>
        </p:nvSpPr>
        <p:spPr>
          <a:xfrm>
            <a:off x="5989320" y="5212080"/>
            <a:ext cx="551657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19" name="Níveis"/>
          <p:cNvSpPr txBox="1"/>
          <p:nvPr/>
        </p:nvSpPr>
        <p:spPr>
          <a:xfrm>
            <a:off x="5989320" y="539496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NÍVEIS  </a:t>
            </a:r>
            <a:pPr indent="0" marL="0">
              <a:buNone/>
            </a:pPr>
            <a:r>
              <a:rPr lang="en-US" sz="950" spc="150" kern="0" dirty="0">
                <a:solidFill>
                  <a:srgbClr val="FAF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ESSENCIAL</a:t>
            </a:r>
            <a:pPr indent="0" marL="0">
              <a:buNone/>
            </a:pPr>
            <a:r>
              <a:rPr lang="en-US" sz="95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·  </a:t>
            </a:r>
            <a:pPr indent="0" marL="0">
              <a:buNone/>
            </a:pPr>
            <a:r>
              <a:rPr lang="en-US" sz="950" spc="150" kern="0" dirty="0">
                <a:solidFill>
                  <a:srgbClr val="FAF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PROFISSIONAL</a:t>
            </a:r>
            <a:pPr indent="0" marL="0">
              <a:buNone/>
            </a:pPr>
            <a:r>
              <a:rPr lang="en-US" sz="95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·  </a:t>
            </a:r>
            <a:pPr indent="0" marL="0">
              <a:buNone/>
            </a:pPr>
            <a:r>
              <a:rPr lang="en-US" sz="950" spc="150" kern="0" dirty="0">
                <a:solidFill>
                  <a:srgbClr val="FAF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EXECUTIVO</a:t>
            </a:r>
            <a:endParaRPr lang="en-US" sz="950" dirty="0"/>
          </a:p>
        </p:txBody>
      </p:sp>
      <p:sp>
        <p:nvSpPr>
          <p:cNvPr id="20" name="Nota"/>
          <p:cNvSpPr txBox="1"/>
          <p:nvPr/>
        </p:nvSpPr>
        <p:spPr>
          <a:xfrm>
            <a:off x="5989320" y="5687568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sob medida para cada marca, sem equipe interna.</a:t>
            </a:r>
            <a:endParaRPr lang="en-US" sz="1100" dirty="0"/>
          </a:p>
        </p:txBody>
      </p:sp>
      <p:sp>
        <p:nvSpPr>
          <p:cNvPr id="21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09</a:t>
            </a:r>
            <a:endParaRPr lang="en-US" sz="900" dirty="0"/>
          </a:p>
        </p:txBody>
      </p:sp>
      <p:sp>
        <p:nvSpPr>
          <p:cNvPr id="22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COMO A HR TRABALHA</a:t>
            </a:r>
            <a:endParaRPr lang="en-US" sz="105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 briefing 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ao arquivo final.</a:t>
            </a:r>
            <a:endParaRPr lang="en-US" sz="3000" dirty="0"/>
          </a:p>
        </p:txBody>
      </p:sp>
      <p:sp>
        <p:nvSpPr>
          <p:cNvPr id="6" name="Linha"/>
          <p:cNvSpPr/>
          <p:nvPr/>
        </p:nvSpPr>
        <p:spPr>
          <a:xfrm>
            <a:off x="685800" y="2057400"/>
            <a:ext cx="1082009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7" name="Número 01"/>
          <p:cNvSpPr txBox="1"/>
          <p:nvPr/>
        </p:nvSpPr>
        <p:spPr>
          <a:xfrm>
            <a:off x="68580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Etapa Planejamento"/>
          <p:cNvSpPr txBox="1"/>
          <p:nvPr/>
        </p:nvSpPr>
        <p:spPr>
          <a:xfrm>
            <a:off x="685800" y="2560320"/>
            <a:ext cx="1981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9" name="Descrição Planejamento"/>
          <p:cNvSpPr txBox="1"/>
          <p:nvPr/>
        </p:nvSpPr>
        <p:spPr>
          <a:xfrm>
            <a:off x="685800" y="2898648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Objetivo, público e mensagem definidos antes de tudo.</a:t>
            </a:r>
            <a:endParaRPr lang="en-US" sz="1050" dirty="0"/>
          </a:p>
        </p:txBody>
      </p:sp>
      <p:sp>
        <p:nvSpPr>
          <p:cNvPr id="10" name="Saída Planejamento"/>
          <p:cNvSpPr txBox="1"/>
          <p:nvPr/>
        </p:nvSpPr>
        <p:spPr>
          <a:xfrm>
            <a:off x="685800" y="379476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 DAQUI  </a:t>
            </a:r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OBJETIVO, PÚBLICO E CRONOGRAMA APROVADOS</a:t>
            </a:r>
            <a:endParaRPr lang="en-US" sz="750" dirty="0"/>
          </a:p>
        </p:txBody>
      </p:sp>
      <p:sp>
        <p:nvSpPr>
          <p:cNvPr id="11" name="Número 02"/>
          <p:cNvSpPr txBox="1"/>
          <p:nvPr/>
        </p:nvSpPr>
        <p:spPr>
          <a:xfrm>
            <a:off x="2895539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Etapa Criação"/>
          <p:cNvSpPr txBox="1"/>
          <p:nvPr/>
        </p:nvSpPr>
        <p:spPr>
          <a:xfrm>
            <a:off x="2895539" y="2560320"/>
            <a:ext cx="1981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Criação</a:t>
            </a:r>
            <a:endParaRPr lang="en-US" sz="1400" dirty="0"/>
          </a:p>
        </p:txBody>
      </p:sp>
      <p:sp>
        <p:nvSpPr>
          <p:cNvPr id="13" name="Descrição Criação"/>
          <p:cNvSpPr txBox="1"/>
          <p:nvPr/>
        </p:nvSpPr>
        <p:spPr>
          <a:xfrm>
            <a:off x="2895539" y="2898648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 visual e narrativa apresentados para aprovação.</a:t>
            </a:r>
            <a:endParaRPr lang="en-US" sz="1050" dirty="0"/>
          </a:p>
        </p:txBody>
      </p:sp>
      <p:sp>
        <p:nvSpPr>
          <p:cNvPr id="14" name="Saída Criação"/>
          <p:cNvSpPr txBox="1"/>
          <p:nvPr/>
        </p:nvSpPr>
        <p:spPr>
          <a:xfrm>
            <a:off x="2895539" y="379476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 DAQUI  </a:t>
            </a:r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ROTEIRO E REFERÊNCIAS VISUAIS APROVADOS</a:t>
            </a:r>
            <a:endParaRPr lang="en-US" sz="750" dirty="0"/>
          </a:p>
        </p:txBody>
      </p:sp>
      <p:sp>
        <p:nvSpPr>
          <p:cNvPr id="15" name="Número 03"/>
          <p:cNvSpPr txBox="1"/>
          <p:nvPr/>
        </p:nvSpPr>
        <p:spPr>
          <a:xfrm>
            <a:off x="5105278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Etapa Produção"/>
          <p:cNvSpPr txBox="1"/>
          <p:nvPr/>
        </p:nvSpPr>
        <p:spPr>
          <a:xfrm>
            <a:off x="5105278" y="2560320"/>
            <a:ext cx="1981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400" dirty="0"/>
          </a:p>
        </p:txBody>
      </p:sp>
      <p:sp>
        <p:nvSpPr>
          <p:cNvPr id="17" name="Descrição Produção"/>
          <p:cNvSpPr txBox="1"/>
          <p:nvPr/>
        </p:nvSpPr>
        <p:spPr>
          <a:xfrm>
            <a:off x="5105278" y="2898648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Gravação, fotografia e direção de cena, no Rio, em São Paulo ou onde o projeto pedir.</a:t>
            </a:r>
            <a:endParaRPr lang="en-US" sz="1050" dirty="0"/>
          </a:p>
        </p:txBody>
      </p:sp>
      <p:sp>
        <p:nvSpPr>
          <p:cNvPr id="18" name="Saída Produção"/>
          <p:cNvSpPr txBox="1"/>
          <p:nvPr/>
        </p:nvSpPr>
        <p:spPr>
          <a:xfrm>
            <a:off x="5105278" y="379476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 DAQUI  </a:t>
            </a:r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 BRUTO, SOM E FOTOS</a:t>
            </a:r>
            <a:endParaRPr lang="en-US" sz="750" dirty="0"/>
          </a:p>
        </p:txBody>
      </p:sp>
      <p:sp>
        <p:nvSpPr>
          <p:cNvPr id="19" name="Número 04"/>
          <p:cNvSpPr txBox="1"/>
          <p:nvPr/>
        </p:nvSpPr>
        <p:spPr>
          <a:xfrm>
            <a:off x="7315017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Etapa Pós-produção"/>
          <p:cNvSpPr txBox="1"/>
          <p:nvPr/>
        </p:nvSpPr>
        <p:spPr>
          <a:xfrm>
            <a:off x="7315017" y="2560320"/>
            <a:ext cx="1981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Pós-produção</a:t>
            </a:r>
            <a:endParaRPr lang="en-US" sz="1400" dirty="0"/>
          </a:p>
        </p:txBody>
      </p:sp>
      <p:sp>
        <p:nvSpPr>
          <p:cNvPr id="21" name="Descrição Pós-produção"/>
          <p:cNvSpPr txBox="1"/>
          <p:nvPr/>
        </p:nvSpPr>
        <p:spPr>
          <a:xfrm>
            <a:off x="7315017" y="2898648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Edição, som, cor, motion e finalização, com revisão de imagem e texto.</a:t>
            </a:r>
            <a:endParaRPr lang="en-US" sz="1050" dirty="0"/>
          </a:p>
        </p:txBody>
      </p:sp>
      <p:sp>
        <p:nvSpPr>
          <p:cNvPr id="22" name="Saída Pós-produção"/>
          <p:cNvSpPr txBox="1"/>
          <p:nvPr/>
        </p:nvSpPr>
        <p:spPr>
          <a:xfrm>
            <a:off x="7315017" y="379476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 DAQUI  </a:t>
            </a:r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CORTE FINAL COM COR E TRILHA</a:t>
            </a:r>
            <a:endParaRPr lang="en-US" sz="750" dirty="0"/>
          </a:p>
        </p:txBody>
      </p:sp>
      <p:sp>
        <p:nvSpPr>
          <p:cNvPr id="23" name="Número 05"/>
          <p:cNvSpPr txBox="1"/>
          <p:nvPr/>
        </p:nvSpPr>
        <p:spPr>
          <a:xfrm>
            <a:off x="9524756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Etapa Entrega"/>
          <p:cNvSpPr txBox="1"/>
          <p:nvPr/>
        </p:nvSpPr>
        <p:spPr>
          <a:xfrm>
            <a:off x="9524756" y="2560320"/>
            <a:ext cx="1981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4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</a:t>
            </a:r>
            <a:endParaRPr lang="en-US" sz="1400" dirty="0"/>
          </a:p>
        </p:txBody>
      </p:sp>
      <p:sp>
        <p:nvSpPr>
          <p:cNvPr id="25" name="Descrição Entrega"/>
          <p:cNvSpPr txBox="1"/>
          <p:nvPr/>
        </p:nvSpPr>
        <p:spPr>
          <a:xfrm>
            <a:off x="9524756" y="2898648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Formatos prontos para cada canal, com os ajustes combinados.</a:t>
            </a:r>
            <a:endParaRPr lang="en-US" sz="1050" dirty="0"/>
          </a:p>
        </p:txBody>
      </p:sp>
      <p:sp>
        <p:nvSpPr>
          <p:cNvPr id="26" name="Saída Entrega"/>
          <p:cNvSpPr txBox="1"/>
          <p:nvPr/>
        </p:nvSpPr>
        <p:spPr>
          <a:xfrm>
            <a:off x="9524756" y="379476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SAI DAQUI  </a:t>
            </a:r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ARQUIVOS EM CADA FORMATO DE TELA</a:t>
            </a:r>
            <a:endParaRPr lang="en-US" sz="750" dirty="0"/>
          </a:p>
        </p:txBody>
      </p:sp>
      <p:sp>
        <p:nvSpPr>
          <p:cNvPr id="27" name="Linha"/>
          <p:cNvSpPr/>
          <p:nvPr/>
        </p:nvSpPr>
        <p:spPr>
          <a:xfrm>
            <a:off x="685800" y="4526280"/>
            <a:ext cx="10820095" cy="0"/>
          </a:xfrm>
          <a:prstGeom prst="line">
            <a:avLst/>
          </a:prstGeom>
          <a:noFill/>
          <a:ln w="9525">
            <a:solidFill>
              <a:srgbClr val="3A2C21"/>
            </a:solidFill>
            <a:prstDash val="solid"/>
          </a:ln>
        </p:spPr>
      </p:sp>
      <p:sp>
        <p:nvSpPr>
          <p:cNvPr id="28" name="Eyebrow"/>
          <p:cNvSpPr txBox="1"/>
          <p:nvPr/>
        </p:nvSpPr>
        <p:spPr>
          <a:xfrm>
            <a:off x="685800" y="4727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É INEGOCIÁVEL</a:t>
            </a:r>
            <a:endParaRPr lang="en-US" sz="1050" dirty="0"/>
          </a:p>
        </p:txBody>
      </p:sp>
      <p:sp>
        <p:nvSpPr>
          <p:cNvPr id="29" name="Valor Prazo"/>
          <p:cNvSpPr txBox="1"/>
          <p:nvPr/>
        </p:nvSpPr>
        <p:spPr>
          <a:xfrm>
            <a:off x="685800" y="505663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</a:t>
            </a:r>
            <a:endParaRPr lang="en-US" sz="1250" dirty="0"/>
          </a:p>
        </p:txBody>
      </p:sp>
      <p:sp>
        <p:nvSpPr>
          <p:cNvPr id="30" name="Valor Prazo descrição"/>
          <p:cNvSpPr txBox="1"/>
          <p:nvPr/>
        </p:nvSpPr>
        <p:spPr>
          <a:xfrm>
            <a:off x="685800" y="530352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Cumprir o combinado</a:t>
            </a:r>
            <a:endParaRPr lang="en-US" sz="1050" dirty="0"/>
          </a:p>
        </p:txBody>
      </p:sp>
      <p:sp>
        <p:nvSpPr>
          <p:cNvPr id="31" name="Valor Qualidade"/>
          <p:cNvSpPr txBox="1"/>
          <p:nvPr/>
        </p:nvSpPr>
        <p:spPr>
          <a:xfrm>
            <a:off x="4292498" y="505663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</a:t>
            </a:r>
            <a:endParaRPr lang="en-US" sz="1250" dirty="0"/>
          </a:p>
        </p:txBody>
      </p:sp>
      <p:sp>
        <p:nvSpPr>
          <p:cNvPr id="32" name="Valor Qualidade descrição"/>
          <p:cNvSpPr txBox="1"/>
          <p:nvPr/>
        </p:nvSpPr>
        <p:spPr>
          <a:xfrm>
            <a:off x="4292498" y="530352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entrega leva o nome da HR</a:t>
            </a:r>
            <a:endParaRPr lang="en-US" sz="1050" dirty="0"/>
          </a:p>
        </p:txBody>
      </p:sp>
      <p:sp>
        <p:nvSpPr>
          <p:cNvPr id="33" name="Valor Relacionamento"/>
          <p:cNvSpPr txBox="1"/>
          <p:nvPr/>
        </p:nvSpPr>
        <p:spPr>
          <a:xfrm>
            <a:off x="7899197" y="505663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endParaRPr lang="en-US" sz="1250" dirty="0"/>
          </a:p>
        </p:txBody>
      </p:sp>
      <p:sp>
        <p:nvSpPr>
          <p:cNvPr id="34" name="Valor Relacionamento descrição"/>
          <p:cNvSpPr txBox="1"/>
          <p:nvPr/>
        </p:nvSpPr>
        <p:spPr>
          <a:xfrm>
            <a:off x="7899197" y="530352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Gente antes de pauta</a:t>
            </a:r>
            <a:endParaRPr lang="en-US" sz="1050" dirty="0"/>
          </a:p>
        </p:txBody>
      </p:sp>
      <p:sp>
        <p:nvSpPr>
          <p:cNvPr id="35" name="Valor Organização"/>
          <p:cNvSpPr txBox="1"/>
          <p:nvPr/>
        </p:nvSpPr>
        <p:spPr>
          <a:xfrm>
            <a:off x="685800" y="569671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</a:t>
            </a:r>
            <a:endParaRPr lang="en-US" sz="1250" dirty="0"/>
          </a:p>
        </p:txBody>
      </p:sp>
      <p:sp>
        <p:nvSpPr>
          <p:cNvPr id="36" name="Valor Organização descrição"/>
          <p:cNvSpPr txBox="1"/>
          <p:nvPr/>
        </p:nvSpPr>
        <p:spPr>
          <a:xfrm>
            <a:off x="685800" y="594360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claro</a:t>
            </a:r>
            <a:endParaRPr lang="en-US" sz="1050" dirty="0"/>
          </a:p>
        </p:txBody>
      </p:sp>
      <p:sp>
        <p:nvSpPr>
          <p:cNvPr id="37" name="Valor Evolução"/>
          <p:cNvSpPr txBox="1"/>
          <p:nvPr/>
        </p:nvSpPr>
        <p:spPr>
          <a:xfrm>
            <a:off x="4292498" y="569671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Evolução</a:t>
            </a:r>
            <a:endParaRPr lang="en-US" sz="1250" dirty="0"/>
          </a:p>
        </p:txBody>
      </p:sp>
      <p:sp>
        <p:nvSpPr>
          <p:cNvPr id="38" name="Valor Evolução descrição"/>
          <p:cNvSpPr txBox="1"/>
          <p:nvPr/>
        </p:nvSpPr>
        <p:spPr>
          <a:xfrm>
            <a:off x="4292498" y="594360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projeto ensina</a:t>
            </a:r>
            <a:endParaRPr lang="en-US" sz="1050" dirty="0"/>
          </a:p>
        </p:txBody>
      </p:sp>
      <p:sp>
        <p:nvSpPr>
          <p:cNvPr id="39" name="Valor Autenticidade"/>
          <p:cNvSpPr txBox="1"/>
          <p:nvPr/>
        </p:nvSpPr>
        <p:spPr>
          <a:xfrm>
            <a:off x="7899197" y="5696712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Autenticidade</a:t>
            </a:r>
            <a:endParaRPr lang="en-US" sz="1250" dirty="0"/>
          </a:p>
        </p:txBody>
      </p:sp>
      <p:sp>
        <p:nvSpPr>
          <p:cNvPr id="40" name="Valor Autenticidade descrição"/>
          <p:cNvSpPr txBox="1"/>
          <p:nvPr/>
        </p:nvSpPr>
        <p:spPr>
          <a:xfrm>
            <a:off x="7899197" y="5943600"/>
            <a:ext cx="342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fórmula pronta</a:t>
            </a:r>
            <a:endParaRPr lang="en-US" sz="1050" dirty="0"/>
          </a:p>
        </p:txBody>
      </p:sp>
      <p:sp>
        <p:nvSpPr>
          <p:cNvPr id="41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09</a:t>
            </a:r>
            <a:endParaRPr lang="en-US" sz="900" dirty="0"/>
          </a:p>
        </p:txBody>
      </p:sp>
      <p:sp>
        <p:nvSpPr>
          <p:cNvPr id="42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b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CASES</a:t>
            </a:r>
            <a:endParaRPr lang="en-US" sz="105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 congresso, cinco dias, 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uma única equipe.</a:t>
            </a:r>
            <a:endParaRPr lang="en-US" sz="3000" dirty="0"/>
          </a:p>
        </p:txBody>
      </p:sp>
      <p:pic>
        <p:nvPicPr>
          <p:cNvPr id="6" name="Brain Congress" descr="/tmp/claude-0/-home-claude/c50f86c5-5df3-5d1b-aa04-5149c17347f8/scratchpad/deck/cache/captacao-congresso-1000-1177x979-35-atten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4892040" cy="4069080"/>
          </a:xfrm>
          <a:prstGeom prst="rect">
            <a:avLst/>
          </a:prstGeom>
        </p:spPr>
      </p:pic>
      <p:pic>
        <p:nvPicPr>
          <p:cNvPr id="7" name="Gradiente Brain Congress" descr="/tmp/claude-0/-home-claude/c50f86c5-5df3-5d1b-aa04-5149c17347f8/scratchpad/deck/cache/grad-bottom-1177x979-3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4892040" cy="4069080"/>
          </a:xfrm>
          <a:prstGeom prst="rect">
            <a:avLst/>
          </a:prstGeom>
        </p:spPr>
      </p:pic>
      <p:sp>
        <p:nvSpPr>
          <p:cNvPr id="8" name="Eyebrow case"/>
          <p:cNvSpPr txBox="1"/>
          <p:nvPr/>
        </p:nvSpPr>
        <p:spPr>
          <a:xfrm>
            <a:off x="960120" y="466344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EM DESTAQUE · IDOR · BRAIN CONGRESS 2026</a:t>
            </a:r>
            <a:endParaRPr lang="en-US" sz="850" dirty="0"/>
          </a:p>
        </p:txBody>
      </p:sp>
      <p:sp>
        <p:nvSpPr>
          <p:cNvPr id="9" name="Texto case"/>
          <p:cNvSpPr txBox="1"/>
          <p:nvPr/>
        </p:nvSpPr>
        <p:spPr>
          <a:xfrm>
            <a:off x="960120" y="491032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completa em Porto Alegre, do primeiro ao último dia: captação no pavilhão, edição no local e conteúdo publicado enquanto o congresso acontecia. O mesmo material virou aftermovie 16:9 e 9:16, conteúdos diários e stories.</a:t>
            </a:r>
            <a:endParaRPr lang="en-US" sz="1050" dirty="0"/>
          </a:p>
        </p:txBody>
      </p:sp>
      <p:pic>
        <p:nvPicPr>
          <p:cNvPr id="10" name="Thumb Papo de Estágio" descr="/tmp/claude-0/-home-claude/c50f86c5-5df3-5d1b-aa04-5149c17347f8/scratchpad/deck/cache/vimeo_1175820967-418x235-35-cent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011680"/>
            <a:ext cx="1738274" cy="977779"/>
          </a:xfrm>
          <a:prstGeom prst="rect">
            <a:avLst/>
          </a:prstGeom>
        </p:spPr>
      </p:pic>
      <p:sp>
        <p:nvSpPr>
          <p:cNvPr id="11" name="Cliente Papo de Estágio"/>
          <p:cNvSpPr txBox="1"/>
          <p:nvPr/>
        </p:nvSpPr>
        <p:spPr>
          <a:xfrm>
            <a:off x="5852160" y="308089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BRADESCO</a:t>
            </a:r>
            <a:endParaRPr lang="en-US" sz="750" dirty="0"/>
          </a:p>
        </p:txBody>
      </p:sp>
      <p:sp>
        <p:nvSpPr>
          <p:cNvPr id="12" name="Case Papo de Estágio"/>
          <p:cNvSpPr txBox="1"/>
          <p:nvPr/>
        </p:nvSpPr>
        <p:spPr>
          <a:xfrm>
            <a:off x="5852160" y="326377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Papo de Estágio</a:t>
            </a:r>
            <a:endParaRPr lang="en-US" sz="1100" dirty="0"/>
          </a:p>
        </p:txBody>
      </p:sp>
      <p:sp>
        <p:nvSpPr>
          <p:cNvPr id="13" name="Tipo Papo de Estágio"/>
          <p:cNvSpPr txBox="1"/>
          <p:nvPr/>
        </p:nvSpPr>
        <p:spPr>
          <a:xfrm>
            <a:off x="5852160" y="350152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Videocast · employer brand</a:t>
            </a:r>
            <a:endParaRPr lang="en-US" sz="950" dirty="0"/>
          </a:p>
        </p:txBody>
      </p:sp>
      <p:pic>
        <p:nvPicPr>
          <p:cNvPr id="14" name="Thumb Trainee Eneva 2025" descr="/tmp/claude-0/-home-claude/c50f86c5-5df3-5d1b-aa04-5149c17347f8/scratchpad/deck/cache/vimeo_1071202977-418x235-35-cent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9890" y="2011680"/>
            <a:ext cx="1738274" cy="977779"/>
          </a:xfrm>
          <a:prstGeom prst="rect">
            <a:avLst/>
          </a:prstGeom>
        </p:spPr>
      </p:pic>
      <p:sp>
        <p:nvSpPr>
          <p:cNvPr id="15" name="Cliente Trainee Eneva 2025"/>
          <p:cNvSpPr txBox="1"/>
          <p:nvPr/>
        </p:nvSpPr>
        <p:spPr>
          <a:xfrm>
            <a:off x="7809890" y="308089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ENEVA</a:t>
            </a:r>
            <a:endParaRPr lang="en-US" sz="750" dirty="0"/>
          </a:p>
        </p:txBody>
      </p:sp>
      <p:sp>
        <p:nvSpPr>
          <p:cNvPr id="16" name="Case Trainee Eneva 2025"/>
          <p:cNvSpPr txBox="1"/>
          <p:nvPr/>
        </p:nvSpPr>
        <p:spPr>
          <a:xfrm>
            <a:off x="7809890" y="326377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Trainee Eneva 2025</a:t>
            </a:r>
            <a:endParaRPr lang="en-US" sz="1100" dirty="0"/>
          </a:p>
        </p:txBody>
      </p:sp>
      <p:sp>
        <p:nvSpPr>
          <p:cNvPr id="17" name="Tipo Trainee Eneva 2025"/>
          <p:cNvSpPr txBox="1"/>
          <p:nvPr/>
        </p:nvSpPr>
        <p:spPr>
          <a:xfrm>
            <a:off x="7809890" y="350152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Websérie · trainee</a:t>
            </a:r>
            <a:endParaRPr lang="en-US" sz="950" dirty="0"/>
          </a:p>
        </p:txBody>
      </p:sp>
      <p:pic>
        <p:nvPicPr>
          <p:cNvPr id="18" name="Thumb Fronteira da Pesquisa" descr="/tmp/claude-0/-home-claude/c50f86c5-5df3-5d1b-aa04-5149c17347f8/scratchpad/deck/cache/vimeo_1216189535-418x235-35-cent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7621" y="2011680"/>
            <a:ext cx="1738274" cy="977779"/>
          </a:xfrm>
          <a:prstGeom prst="rect">
            <a:avLst/>
          </a:prstGeom>
        </p:spPr>
      </p:pic>
      <p:sp>
        <p:nvSpPr>
          <p:cNvPr id="19" name="Cliente Fronteira da Pesquisa"/>
          <p:cNvSpPr txBox="1"/>
          <p:nvPr/>
        </p:nvSpPr>
        <p:spPr>
          <a:xfrm>
            <a:off x="9767621" y="308089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IDOR</a:t>
            </a:r>
            <a:endParaRPr lang="en-US" sz="750" dirty="0"/>
          </a:p>
        </p:txBody>
      </p:sp>
      <p:sp>
        <p:nvSpPr>
          <p:cNvPr id="20" name="Case Fronteira da Pesquisa"/>
          <p:cNvSpPr txBox="1"/>
          <p:nvPr/>
        </p:nvSpPr>
        <p:spPr>
          <a:xfrm>
            <a:off x="9767621" y="326377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Fronteira da Pesquisa</a:t>
            </a:r>
            <a:endParaRPr lang="en-US" sz="1100" dirty="0"/>
          </a:p>
        </p:txBody>
      </p:sp>
      <p:sp>
        <p:nvSpPr>
          <p:cNvPr id="21" name="Tipo Fronteira da Pesquisa"/>
          <p:cNvSpPr txBox="1"/>
          <p:nvPr/>
        </p:nvSpPr>
        <p:spPr>
          <a:xfrm>
            <a:off x="9767621" y="350152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Videocast científico</a:t>
            </a:r>
            <a:endParaRPr lang="en-US" sz="950" dirty="0"/>
          </a:p>
        </p:txBody>
      </p:sp>
      <p:pic>
        <p:nvPicPr>
          <p:cNvPr id="22" name="Thumb Filme de lançamento" descr="/tmp/claude-0/-home-claude/c50f86c5-5df3-5d1b-aa04-5149c17347f8/scratchpad/deck/cache/vimeo_1195394293-418x235-35-cent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3858139"/>
            <a:ext cx="1738274" cy="977779"/>
          </a:xfrm>
          <a:prstGeom prst="rect">
            <a:avLst/>
          </a:prstGeom>
        </p:spPr>
      </p:pic>
      <p:sp>
        <p:nvSpPr>
          <p:cNvPr id="23" name="Cliente Filme de lançamento"/>
          <p:cNvSpPr txBox="1"/>
          <p:nvPr/>
        </p:nvSpPr>
        <p:spPr>
          <a:xfrm>
            <a:off x="5852160" y="492735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VENDE PAY</a:t>
            </a:r>
            <a:endParaRPr lang="en-US" sz="750" dirty="0"/>
          </a:p>
        </p:txBody>
      </p:sp>
      <p:sp>
        <p:nvSpPr>
          <p:cNvPr id="24" name="Case Filme de lançamento"/>
          <p:cNvSpPr txBox="1"/>
          <p:nvPr/>
        </p:nvSpPr>
        <p:spPr>
          <a:xfrm>
            <a:off x="5852160" y="511023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Filme de lançamento</a:t>
            </a:r>
            <a:endParaRPr lang="en-US" sz="1100" dirty="0"/>
          </a:p>
        </p:txBody>
      </p:sp>
      <p:sp>
        <p:nvSpPr>
          <p:cNvPr id="25" name="Tipo Filme de lançamento"/>
          <p:cNvSpPr txBox="1"/>
          <p:nvPr/>
        </p:nvSpPr>
        <p:spPr>
          <a:xfrm>
            <a:off x="5852160" y="534798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Campanha · fintech</a:t>
            </a:r>
            <a:endParaRPr lang="en-US" sz="950" dirty="0"/>
          </a:p>
        </p:txBody>
      </p:sp>
      <p:pic>
        <p:nvPicPr>
          <p:cNvPr id="26" name="Thumb Case Suvinil" descr="/tmp/claude-0/-home-claude/c50f86c5-5df3-5d1b-aa04-5149c17347f8/scratchpad/deck/cache/vimeo_1195394892-418x235-35-cent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9890" y="3858139"/>
            <a:ext cx="1738274" cy="977779"/>
          </a:xfrm>
          <a:prstGeom prst="rect">
            <a:avLst/>
          </a:prstGeom>
        </p:spPr>
      </p:pic>
      <p:sp>
        <p:nvSpPr>
          <p:cNvPr id="27" name="Cliente Case Suvinil"/>
          <p:cNvSpPr txBox="1"/>
          <p:nvPr/>
        </p:nvSpPr>
        <p:spPr>
          <a:xfrm>
            <a:off x="7809890" y="492735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INVOLVES</a:t>
            </a:r>
            <a:endParaRPr lang="en-US" sz="750" dirty="0"/>
          </a:p>
        </p:txBody>
      </p:sp>
      <p:sp>
        <p:nvSpPr>
          <p:cNvPr id="28" name="Case Case Suvinil"/>
          <p:cNvSpPr txBox="1"/>
          <p:nvPr/>
        </p:nvSpPr>
        <p:spPr>
          <a:xfrm>
            <a:off x="7809890" y="511023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Suvinil</a:t>
            </a:r>
            <a:endParaRPr lang="en-US" sz="1100" dirty="0"/>
          </a:p>
        </p:txBody>
      </p:sp>
      <p:sp>
        <p:nvSpPr>
          <p:cNvPr id="29" name="Tipo Case Suvinil"/>
          <p:cNvSpPr txBox="1"/>
          <p:nvPr/>
        </p:nvSpPr>
        <p:spPr>
          <a:xfrm>
            <a:off x="7809890" y="534798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case</a:t>
            </a:r>
            <a:endParaRPr lang="en-US" sz="950" dirty="0"/>
          </a:p>
        </p:txBody>
      </p:sp>
      <p:pic>
        <p:nvPicPr>
          <p:cNvPr id="30" name="Thumb Curso de Medicina" descr="/tmp/claude-0/-home-claude/c50f86c5-5df3-5d1b-aa04-5149c17347f8/scratchpad/deck/cache/vimeo_1213934376-418x235-35-cent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7621" y="3858139"/>
            <a:ext cx="1738274" cy="977779"/>
          </a:xfrm>
          <a:prstGeom prst="rect">
            <a:avLst/>
          </a:prstGeom>
        </p:spPr>
      </p:pic>
      <p:sp>
        <p:nvSpPr>
          <p:cNvPr id="31" name="Cliente Curso de Medicina"/>
          <p:cNvSpPr txBox="1"/>
          <p:nvPr/>
        </p:nvSpPr>
        <p:spPr>
          <a:xfrm>
            <a:off x="9767621" y="4927359"/>
            <a:ext cx="173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UVA</a:t>
            </a:r>
            <a:endParaRPr lang="en-US" sz="750" dirty="0"/>
          </a:p>
        </p:txBody>
      </p:sp>
      <p:sp>
        <p:nvSpPr>
          <p:cNvPr id="32" name="Case Curso de Medicina"/>
          <p:cNvSpPr txBox="1"/>
          <p:nvPr/>
        </p:nvSpPr>
        <p:spPr>
          <a:xfrm>
            <a:off x="9767621" y="5110239"/>
            <a:ext cx="1738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Curso de Medicina</a:t>
            </a:r>
            <a:endParaRPr lang="en-US" sz="1100" dirty="0"/>
          </a:p>
        </p:txBody>
      </p:sp>
      <p:sp>
        <p:nvSpPr>
          <p:cNvPr id="33" name="Tipo Curso de Medicina"/>
          <p:cNvSpPr txBox="1"/>
          <p:nvPr/>
        </p:nvSpPr>
        <p:spPr>
          <a:xfrm>
            <a:off x="9767621" y="5347983"/>
            <a:ext cx="1738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Institucional · educação</a:t>
            </a:r>
            <a:endParaRPr lang="en-US" sz="950" dirty="0"/>
          </a:p>
        </p:txBody>
      </p:sp>
      <p:sp>
        <p:nvSpPr>
          <p:cNvPr id="34" name="Link portfólio"/>
          <p:cNvSpPr txBox="1"/>
          <p:nvPr/>
        </p:nvSpPr>
        <p:spPr>
          <a:xfrm>
            <a:off x="5852160" y="5989320"/>
            <a:ext cx="5653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TODOS NO PLAYER EM HRCREATIVEHUB.COM.BR</a:t>
            </a:r>
            <a:endParaRPr lang="en-US" sz="850" dirty="0"/>
          </a:p>
        </p:txBody>
      </p:sp>
      <p:sp>
        <p:nvSpPr>
          <p:cNvPr id="35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09</a:t>
            </a:r>
            <a:endParaRPr lang="en-US" sz="900" dirty="0"/>
          </a:p>
        </p:txBody>
      </p:sp>
      <p:sp>
        <p:nvSpPr>
          <p:cNvPr id="36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home-claude/c50f86c5-5df3-5d1b-aa04-5149c17347f8/scratchpad/deck/bg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MARCAS QUE CONFIAM</a:t>
            </a:r>
            <a:endParaRPr lang="en-US" sz="105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Mais de 20 marcas e instituições, 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desde 2019.</a:t>
            </a:r>
            <a:endParaRPr lang="en-US" sz="3000" dirty="0"/>
          </a:p>
        </p:txBody>
      </p:sp>
      <p:pic>
        <p:nvPicPr>
          <p:cNvPr id="6" name="Logo e89cc3147e" descr="/tmp/claude-0/-home-claude/c50f86c5-5df3-5d1b-aa04-5149c17347f8/scratchpad/img/logos/e89cc3147e.png">    </p:cNvPr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967710" y="2279880"/>
            <a:ext cx="1600200" cy="378000"/>
          </a:xfrm>
          <a:prstGeom prst="rect">
            <a:avLst/>
          </a:prstGeom>
        </p:spPr>
      </p:pic>
      <p:pic>
        <p:nvPicPr>
          <p:cNvPr id="7" name="Logo a48ceaf8fb" descr="/tmp/claude-0/-home-claude/c50f86c5-5df3-5d1b-aa04-5149c17347f8/scratchpad/img/logos/a48ceaf8fb.png">    </p:cNvPr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3667796" y="2267712"/>
            <a:ext cx="528066" cy="402336"/>
          </a:xfrm>
          <a:prstGeom prst="rect">
            <a:avLst/>
          </a:prstGeom>
        </p:spPr>
      </p:pic>
      <p:pic>
        <p:nvPicPr>
          <p:cNvPr id="8" name="Logo 9b993e547f" descr="/tmp/claude-0/-home-claude/c50f86c5-5df3-5d1b-aa04-5149c17347f8/scratchpad/img/logos/9b993e547f.png">    </p:cNvPr>
          <p:cNvPicPr>
            <a:picLocks noChangeAspect="1"/>
          </p:cNvPicPr>
          <p:nvPr/>
        </p:nvPicPr>
        <p:blipFill>
          <a:blip r:embed="rId5">
            <a:alphaModFix amt="88000"/>
          </a:blip>
          <a:stretch>
            <a:fillRect/>
          </a:stretch>
        </p:blipFill>
        <p:spPr>
          <a:xfrm>
            <a:off x="5295748" y="2289547"/>
            <a:ext cx="1600200" cy="358666"/>
          </a:xfrm>
          <a:prstGeom prst="rect">
            <a:avLst/>
          </a:prstGeom>
        </p:spPr>
      </p:pic>
      <p:pic>
        <p:nvPicPr>
          <p:cNvPr id="9" name="Logo cd719edd72" descr="/tmp/claude-0/-home-claude/c50f86c5-5df3-5d1b-aa04-5149c17347f8/scratchpad/img/logos/cd719edd72.png">    </p:cNvPr>
          <p:cNvPicPr>
            <a:picLocks noChangeAspect="1"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7808356" y="2267712"/>
            <a:ext cx="903021" cy="402336"/>
          </a:xfrm>
          <a:prstGeom prst="rect">
            <a:avLst/>
          </a:prstGeom>
        </p:spPr>
      </p:pic>
      <p:pic>
        <p:nvPicPr>
          <p:cNvPr id="10" name="Logo 5c8a38b6e5" descr="/tmp/claude-0/-home-claude/c50f86c5-5df3-5d1b-aa04-5149c17347f8/scratchpad/img/logos/5c8a38b6e5.png">    </p:cNvPr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782383" y="2267712"/>
            <a:ext cx="1283005" cy="402336"/>
          </a:xfrm>
          <a:prstGeom prst="rect">
            <a:avLst/>
          </a:prstGeom>
        </p:spPr>
      </p:pic>
      <p:pic>
        <p:nvPicPr>
          <p:cNvPr id="11" name="Logo 35fb54738f" descr="/tmp/claude-0/-home-claude/c50f86c5-5df3-5d1b-aa04-5149c17347f8/scratchpad/img/logos/35fb54738f.png">    </p:cNvPr>
          <p:cNvPicPr>
            <a:picLocks noChangeAspect="1"/>
          </p:cNvPicPr>
          <p:nvPr/>
        </p:nvPicPr>
        <p:blipFill>
          <a:blip r:embed="rId8">
            <a:alphaModFix amt="88000"/>
          </a:blip>
          <a:stretch>
            <a:fillRect/>
          </a:stretch>
        </p:blipFill>
        <p:spPr>
          <a:xfrm>
            <a:off x="1066595" y="2999232"/>
            <a:ext cx="1402428" cy="402336"/>
          </a:xfrm>
          <a:prstGeom prst="rect">
            <a:avLst/>
          </a:prstGeom>
        </p:spPr>
      </p:pic>
      <p:pic>
        <p:nvPicPr>
          <p:cNvPr id="12" name="Logo 5b8b2720e3" descr="/tmp/claude-0/-home-claude/c50f86c5-5df3-5d1b-aa04-5149c17347f8/scratchpad/img/logos/5b8b2720e3.png">    </p:cNvPr>
          <p:cNvPicPr>
            <a:picLocks noChangeAspect="1"/>
          </p:cNvPicPr>
          <p:nvPr/>
        </p:nvPicPr>
        <p:blipFill>
          <a:blip r:embed="rId9">
            <a:alphaModFix amt="88000"/>
          </a:blip>
          <a:stretch>
            <a:fillRect/>
          </a:stretch>
        </p:blipFill>
        <p:spPr>
          <a:xfrm>
            <a:off x="3531728" y="2999232"/>
            <a:ext cx="800202" cy="402336"/>
          </a:xfrm>
          <a:prstGeom prst="rect">
            <a:avLst/>
          </a:prstGeom>
        </p:spPr>
      </p:pic>
      <p:pic>
        <p:nvPicPr>
          <p:cNvPr id="13" name="Logo 295d24ffc2" descr="/tmp/claude-0/-home-claude/c50f86c5-5df3-5d1b-aa04-5149c17347f8/scratchpad/img/logos/295d24ffc2.png">    </p:cNvPr>
          <p:cNvPicPr>
            <a:picLocks noChangeAspect="1"/>
          </p:cNvPicPr>
          <p:nvPr/>
        </p:nvPicPr>
        <p:blipFill>
          <a:blip r:embed="rId10">
            <a:alphaModFix amt="88000"/>
          </a:blip>
          <a:stretch>
            <a:fillRect/>
          </a:stretch>
        </p:blipFill>
        <p:spPr>
          <a:xfrm>
            <a:off x="5588457" y="2999232"/>
            <a:ext cx="1014781" cy="402336"/>
          </a:xfrm>
          <a:prstGeom prst="rect">
            <a:avLst/>
          </a:prstGeom>
        </p:spPr>
      </p:pic>
      <p:pic>
        <p:nvPicPr>
          <p:cNvPr id="14" name="Logo ffb735ec96" descr="/tmp/claude-0/-home-claude/c50f86c5-5df3-5d1b-aa04-5149c17347f8/scratchpad/img/logos/ffb735ec96.png">    </p:cNvPr>
          <p:cNvPicPr>
            <a:picLocks noChangeAspect="1"/>
          </p:cNvPicPr>
          <p:nvPr/>
        </p:nvPicPr>
        <p:blipFill>
          <a:blip r:embed="rId11">
            <a:alphaModFix amt="88000"/>
          </a:blip>
          <a:stretch>
            <a:fillRect/>
          </a:stretch>
        </p:blipFill>
        <p:spPr>
          <a:xfrm>
            <a:off x="7459767" y="3100387"/>
            <a:ext cx="1600200" cy="200025"/>
          </a:xfrm>
          <a:prstGeom prst="rect">
            <a:avLst/>
          </a:prstGeom>
        </p:spPr>
      </p:pic>
      <p:pic>
        <p:nvPicPr>
          <p:cNvPr id="15" name="Logo f6557d8803" descr="/tmp/claude-0/-home-claude/c50f86c5-5df3-5d1b-aa04-5149c17347f8/scratchpad/img/logos/f6557d8803.png">    </p:cNvPr>
          <p:cNvPicPr>
            <a:picLocks noChangeAspect="1"/>
          </p:cNvPicPr>
          <p:nvPr/>
        </p:nvPicPr>
        <p:blipFill>
          <a:blip r:embed="rId12">
            <a:alphaModFix amt="88000"/>
          </a:blip>
          <a:stretch>
            <a:fillRect/>
          </a:stretch>
        </p:blipFill>
        <p:spPr>
          <a:xfrm>
            <a:off x="9623786" y="3032155"/>
            <a:ext cx="1600200" cy="336491"/>
          </a:xfrm>
          <a:prstGeom prst="rect">
            <a:avLst/>
          </a:prstGeom>
        </p:spPr>
      </p:pic>
      <p:pic>
        <p:nvPicPr>
          <p:cNvPr id="16" name="Logo d201687b06" descr="/tmp/claude-0/-home-claude/c50f86c5-5df3-5d1b-aa04-5149c17347f8/scratchpad/img/logos/d201687b06.png">    </p:cNvPr>
          <p:cNvPicPr>
            <a:picLocks noChangeAspect="1"/>
          </p:cNvPicPr>
          <p:nvPr/>
        </p:nvPicPr>
        <p:blipFill>
          <a:blip r:embed="rId13">
            <a:alphaModFix amt="88000"/>
          </a:blip>
          <a:stretch>
            <a:fillRect/>
          </a:stretch>
        </p:blipFill>
        <p:spPr>
          <a:xfrm>
            <a:off x="1343122" y="3730752"/>
            <a:ext cx="849376" cy="402336"/>
          </a:xfrm>
          <a:prstGeom prst="rect">
            <a:avLst/>
          </a:prstGeom>
        </p:spPr>
      </p:pic>
      <p:pic>
        <p:nvPicPr>
          <p:cNvPr id="17" name="Logo 393820b641" descr="/tmp/claude-0/-home-claude/c50f86c5-5df3-5d1b-aa04-5149c17347f8/scratchpad/img/logos/393820b641.png">    </p:cNvPr>
          <p:cNvPicPr>
            <a:picLocks noChangeAspect="1"/>
          </p:cNvPicPr>
          <p:nvPr/>
        </p:nvPicPr>
        <p:blipFill>
          <a:blip r:embed="rId14">
            <a:alphaModFix amt="88000"/>
          </a:blip>
          <a:stretch>
            <a:fillRect/>
          </a:stretch>
        </p:blipFill>
        <p:spPr>
          <a:xfrm>
            <a:off x="3213021" y="3730752"/>
            <a:ext cx="1437615" cy="402336"/>
          </a:xfrm>
          <a:prstGeom prst="rect">
            <a:avLst/>
          </a:prstGeom>
        </p:spPr>
      </p:pic>
      <p:pic>
        <p:nvPicPr>
          <p:cNvPr id="18" name="Logo 80fedf9ecf" descr="/tmp/claude-0/-home-claude/c50f86c5-5df3-5d1b-aa04-5149c17347f8/scratchpad/img/logos/80fedf9ecf.png">    </p:cNvPr>
          <p:cNvPicPr>
            <a:picLocks noChangeAspect="1"/>
          </p:cNvPicPr>
          <p:nvPr/>
        </p:nvPicPr>
        <p:blipFill>
          <a:blip r:embed="rId15">
            <a:alphaModFix amt="88000"/>
          </a:blip>
          <a:stretch>
            <a:fillRect/>
          </a:stretch>
        </p:blipFill>
        <p:spPr>
          <a:xfrm>
            <a:off x="5568340" y="3730752"/>
            <a:ext cx="1055014" cy="402336"/>
          </a:xfrm>
          <a:prstGeom prst="rect">
            <a:avLst/>
          </a:prstGeom>
        </p:spPr>
      </p:pic>
      <p:pic>
        <p:nvPicPr>
          <p:cNvPr id="19" name="Logo b80d8c95d8" descr="/tmp/claude-0/-home-claude/c50f86c5-5df3-5d1b-aa04-5149c17347f8/scratchpad/img/logos/b80d8c95d8.png">    </p:cNvPr>
          <p:cNvPicPr>
            <a:picLocks noChangeAspect="1"/>
          </p:cNvPicPr>
          <p:nvPr/>
        </p:nvPicPr>
        <p:blipFill>
          <a:blip r:embed="rId16">
            <a:alphaModFix amt="88000"/>
          </a:blip>
          <a:stretch>
            <a:fillRect/>
          </a:stretch>
        </p:blipFill>
        <p:spPr>
          <a:xfrm>
            <a:off x="7459767" y="3790726"/>
            <a:ext cx="1600200" cy="282388"/>
          </a:xfrm>
          <a:prstGeom prst="rect">
            <a:avLst/>
          </a:prstGeom>
        </p:spPr>
      </p:pic>
      <p:pic>
        <p:nvPicPr>
          <p:cNvPr id="20" name="Logo 724775321b" descr="/tmp/claude-0/-home-claude/c50f86c5-5df3-5d1b-aa04-5149c17347f8/scratchpad/img/logos/724775321b.png">    </p:cNvPr>
          <p:cNvPicPr>
            <a:picLocks noChangeAspect="1"/>
          </p:cNvPicPr>
          <p:nvPr/>
        </p:nvPicPr>
        <p:blipFill>
          <a:blip r:embed="rId17">
            <a:alphaModFix amt="88000"/>
          </a:blip>
          <a:stretch>
            <a:fillRect/>
          </a:stretch>
        </p:blipFill>
        <p:spPr>
          <a:xfrm>
            <a:off x="9686270" y="3730752"/>
            <a:ext cx="1475232" cy="402336"/>
          </a:xfrm>
          <a:prstGeom prst="rect">
            <a:avLst/>
          </a:prstGeom>
        </p:spPr>
      </p:pic>
      <p:pic>
        <p:nvPicPr>
          <p:cNvPr id="21" name="Logo 93bb3627d5" descr="/tmp/claude-0/-home-claude/c50f86c5-5df3-5d1b-aa04-5149c17347f8/scratchpad/img/logos/93bb3627d5.png">    </p:cNvPr>
          <p:cNvPicPr>
            <a:picLocks noChangeAspect="1"/>
          </p:cNvPicPr>
          <p:nvPr/>
        </p:nvPicPr>
        <p:blipFill>
          <a:blip r:embed="rId18">
            <a:alphaModFix amt="88000"/>
          </a:blip>
          <a:stretch>
            <a:fillRect/>
          </a:stretch>
        </p:blipFill>
        <p:spPr>
          <a:xfrm>
            <a:off x="967710" y="4528391"/>
            <a:ext cx="1600200" cy="270097"/>
          </a:xfrm>
          <a:prstGeom prst="rect">
            <a:avLst/>
          </a:prstGeom>
        </p:spPr>
      </p:pic>
      <p:pic>
        <p:nvPicPr>
          <p:cNvPr id="22" name="Logo e899795b9e" descr="/tmp/claude-0/-home-claude/c50f86c5-5df3-5d1b-aa04-5149c17347f8/scratchpad/img/logos/e899795b9e.png">    </p:cNvPr>
          <p:cNvPicPr>
            <a:picLocks noChangeAspect="1"/>
          </p:cNvPicPr>
          <p:nvPr/>
        </p:nvPicPr>
        <p:blipFill>
          <a:blip r:embed="rId19">
            <a:alphaModFix amt="88000"/>
          </a:blip>
          <a:stretch>
            <a:fillRect/>
          </a:stretch>
        </p:blipFill>
        <p:spPr>
          <a:xfrm>
            <a:off x="3442320" y="4462272"/>
            <a:ext cx="979018" cy="402336"/>
          </a:xfrm>
          <a:prstGeom prst="rect">
            <a:avLst/>
          </a:prstGeom>
        </p:spPr>
      </p:pic>
      <p:pic>
        <p:nvPicPr>
          <p:cNvPr id="23" name="Logo b9faeb0d53" descr="/tmp/claude-0/-home-claude/c50f86c5-5df3-5d1b-aa04-5149c17347f8/scratchpad/img/logos/b9faeb0d53.png">    </p:cNvPr>
          <p:cNvPicPr>
            <a:picLocks noChangeAspect="1"/>
          </p:cNvPicPr>
          <p:nvPr/>
        </p:nvPicPr>
        <p:blipFill>
          <a:blip r:embed="rId20">
            <a:alphaModFix amt="88000"/>
          </a:blip>
          <a:stretch>
            <a:fillRect/>
          </a:stretch>
        </p:blipFill>
        <p:spPr>
          <a:xfrm>
            <a:off x="5519166" y="4462272"/>
            <a:ext cx="1153363" cy="402336"/>
          </a:xfrm>
          <a:prstGeom prst="rect">
            <a:avLst/>
          </a:prstGeom>
        </p:spPr>
      </p:pic>
      <p:pic>
        <p:nvPicPr>
          <p:cNvPr id="24" name="Logo aa0adff588" descr="/tmp/claude-0/-home-claude/c50f86c5-5df3-5d1b-aa04-5149c17347f8/scratchpad/img/logos/aa0adff588.png">    </p:cNvPr>
          <p:cNvPicPr>
            <a:picLocks noChangeAspect="1"/>
          </p:cNvPicPr>
          <p:nvPr/>
        </p:nvPicPr>
        <p:blipFill>
          <a:blip r:embed="rId21">
            <a:alphaModFix amt="88000"/>
          </a:blip>
          <a:stretch>
            <a:fillRect/>
          </a:stretch>
        </p:blipFill>
        <p:spPr>
          <a:xfrm>
            <a:off x="8101167" y="4462272"/>
            <a:ext cx="317398" cy="402336"/>
          </a:xfrm>
          <a:prstGeom prst="rect">
            <a:avLst/>
          </a:prstGeom>
        </p:spPr>
      </p:pic>
      <p:pic>
        <p:nvPicPr>
          <p:cNvPr id="25" name="Logo ede3920b8e" descr="/tmp/claude-0/-home-claude/c50f86c5-5df3-5d1b-aa04-5149c17347f8/scratchpad/img/logos/ede3920b8e.png">    </p:cNvPr>
          <p:cNvPicPr>
            <a:picLocks noChangeAspect="1"/>
          </p:cNvPicPr>
          <p:nvPr/>
        </p:nvPicPr>
        <p:blipFill>
          <a:blip r:embed="rId22">
            <a:alphaModFix amt="88000"/>
          </a:blip>
          <a:stretch>
            <a:fillRect/>
          </a:stretch>
        </p:blipFill>
        <p:spPr>
          <a:xfrm>
            <a:off x="10222718" y="4462272"/>
            <a:ext cx="402336" cy="402336"/>
          </a:xfrm>
          <a:prstGeom prst="rect">
            <a:avLst/>
          </a:prstGeom>
        </p:spPr>
      </p:pic>
      <p:pic>
        <p:nvPicPr>
          <p:cNvPr id="26" name="Logo fa758bbd5a" descr="/tmp/claude-0/-home-claude/c50f86c5-5df3-5d1b-aa04-5149c17347f8/scratchpad/img/logos/fa758bbd5a.png">    </p:cNvPr>
          <p:cNvPicPr>
            <a:picLocks noChangeAspect="1"/>
          </p:cNvPicPr>
          <p:nvPr/>
        </p:nvPicPr>
        <p:blipFill>
          <a:blip r:embed="rId23">
            <a:alphaModFix amt="88000"/>
          </a:blip>
          <a:stretch>
            <a:fillRect/>
          </a:stretch>
        </p:blipFill>
        <p:spPr>
          <a:xfrm>
            <a:off x="1249243" y="5193792"/>
            <a:ext cx="1037133" cy="402336"/>
          </a:xfrm>
          <a:prstGeom prst="rect">
            <a:avLst/>
          </a:prstGeom>
        </p:spPr>
      </p:pic>
      <p:pic>
        <p:nvPicPr>
          <p:cNvPr id="27" name="Logo 2581a96893" descr="/tmp/claude-0/-home-claude/c50f86c5-5df3-5d1b-aa04-5149c17347f8/scratchpad/img/logos/2581a96893.png">    </p:cNvPr>
          <p:cNvPicPr>
            <a:picLocks noChangeAspect="1"/>
          </p:cNvPicPr>
          <p:nvPr/>
        </p:nvPicPr>
        <p:blipFill>
          <a:blip r:embed="rId24">
            <a:alphaModFix amt="88000"/>
          </a:blip>
          <a:stretch>
            <a:fillRect/>
          </a:stretch>
        </p:blipFill>
        <p:spPr>
          <a:xfrm>
            <a:off x="3578667" y="5193792"/>
            <a:ext cx="706323" cy="402336"/>
          </a:xfrm>
          <a:prstGeom prst="rect">
            <a:avLst/>
          </a:prstGeom>
        </p:spPr>
      </p:pic>
      <p:pic>
        <p:nvPicPr>
          <p:cNvPr id="28" name="Logo 6ab4c24f36" descr="/tmp/claude-0/-home-claude/c50f86c5-5df3-5d1b-aa04-5149c17347f8/scratchpad/img/logos/6ab4c24f36.png">    </p:cNvPr>
          <p:cNvPicPr>
            <a:picLocks noChangeAspect="1"/>
          </p:cNvPicPr>
          <p:nvPr/>
        </p:nvPicPr>
        <p:blipFill>
          <a:blip r:embed="rId25">
            <a:alphaModFix amt="88000"/>
          </a:blip>
          <a:stretch>
            <a:fillRect/>
          </a:stretch>
        </p:blipFill>
        <p:spPr>
          <a:xfrm>
            <a:off x="5758332" y="5193792"/>
            <a:ext cx="675030" cy="402336"/>
          </a:xfrm>
          <a:prstGeom prst="rect">
            <a:avLst/>
          </a:prstGeom>
        </p:spPr>
      </p:pic>
      <p:pic>
        <p:nvPicPr>
          <p:cNvPr id="29" name="Logo 8a0b9396e7" descr="/tmp/claude-0/-home-claude/c50f86c5-5df3-5d1b-aa04-5149c17347f8/scratchpad/img/logos/8a0b9396e7.png">    </p:cNvPr>
          <p:cNvPicPr>
            <a:picLocks noChangeAspect="1"/>
          </p:cNvPicPr>
          <p:nvPr/>
        </p:nvPicPr>
        <p:blipFill>
          <a:blip r:embed="rId26">
            <a:alphaModFix amt="88000"/>
          </a:blip>
          <a:stretch>
            <a:fillRect/>
          </a:stretch>
        </p:blipFill>
        <p:spPr>
          <a:xfrm>
            <a:off x="7866471" y="5193792"/>
            <a:ext cx="786790" cy="402336"/>
          </a:xfrm>
          <a:prstGeom prst="rect">
            <a:avLst/>
          </a:prstGeom>
        </p:spPr>
      </p:pic>
      <p:pic>
        <p:nvPicPr>
          <p:cNvPr id="30" name="Logo 143f82dd61" descr="/tmp/claude-0/-home-claude/c50f86c5-5df3-5d1b-aa04-5149c17347f8/scratchpad/img/logos/143f82dd61.png">    </p:cNvPr>
          <p:cNvPicPr>
            <a:picLocks noChangeAspect="1"/>
          </p:cNvPicPr>
          <p:nvPr/>
        </p:nvPicPr>
        <p:blipFill>
          <a:blip r:embed="rId27">
            <a:alphaModFix amt="88000"/>
          </a:blip>
          <a:stretch>
            <a:fillRect/>
          </a:stretch>
        </p:blipFill>
        <p:spPr>
          <a:xfrm>
            <a:off x="9623786" y="5288280"/>
            <a:ext cx="1600200" cy="213360"/>
          </a:xfrm>
          <a:prstGeom prst="rect">
            <a:avLst/>
          </a:prstGeom>
        </p:spPr>
      </p:pic>
      <p:sp>
        <p:nvSpPr>
          <p:cNvPr id="31" name="Nota"/>
          <p:cNvSpPr txBox="1"/>
          <p:nvPr/>
        </p:nvSpPr>
        <p:spPr>
          <a:xfrm>
            <a:off x="68580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2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Saúde, educação, energia, finanças, tecnologia e varejo. Rio de Janeiro, São Paulo e onde o projeto pedir.</a:t>
            </a:r>
            <a:endParaRPr lang="en-US" sz="1100" dirty="0"/>
          </a:p>
        </p:txBody>
      </p:sp>
      <p:sp>
        <p:nvSpPr>
          <p:cNvPr id="32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09</a:t>
            </a:r>
            <a:endParaRPr lang="en-US" sz="900" dirty="0"/>
          </a:p>
        </p:txBody>
      </p:sp>
      <p:sp>
        <p:nvSpPr>
          <p:cNvPr id="33" name="Marca"/>
          <p:cNvSpPr txBox="1"/>
          <p:nvPr/>
        </p:nvSpPr>
        <p:spPr>
          <a:xfrm>
            <a:off x="6858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e fundo" descr="/tmp/claude-0/-home-claude/c50f86c5-5df3-5d1b-aa04-5149c17347f8/scratchpad/img/contato-set-16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Gradiente" descr="/tmp/claude-0/-home-claude/c50f86c5-5df3-5d1b-aa04-5149c17347f8/scratchpad/deck/photo-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Grão" descr="/tmp/claude-0/-home-claude/c50f86c5-5df3-5d1b-aa04-5149c17347f8/scratchpad/deck/grain.png">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Véu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30D">
              <a:alpha val="62000"/>
            </a:srgbClr>
          </a:solidFill>
          <a:ln w="12700">
            <a:solidFill>
              <a:srgbClr val="1B130D">
                <a:alpha val="0"/>
              </a:srgbClr>
            </a:solidFill>
            <a:prstDash val="solid"/>
          </a:ln>
        </p:spPr>
      </p:sp>
      <p:pic>
        <p:nvPicPr>
          <p:cNvPr id="6" name="Monograma HR" descr="/tmp/claude-0/-home-claude/c50f86c5-5df3-5d1b-aa04-5149c17347f8/scratchpad/deck/monogra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731520"/>
            <a:ext cx="1005840" cy="530352"/>
          </a:xfrm>
          <a:prstGeom prst="rect">
            <a:avLst/>
          </a:prstGeom>
        </p:spPr>
      </p:pic>
      <p:sp>
        <p:nvSpPr>
          <p:cNvPr id="7" name="Eyebrow"/>
          <p:cNvSpPr txBox="1"/>
          <p:nvPr/>
        </p:nvSpPr>
        <p:spPr>
          <a:xfrm>
            <a:off x="685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CONTATO</a:t>
            </a:r>
            <a:endParaRPr lang="en-US" sz="1050" dirty="0"/>
          </a:p>
        </p:txBody>
      </p:sp>
      <p:sp>
        <p:nvSpPr>
          <p:cNvPr id="8" name="Título"/>
          <p:cNvSpPr txBox="1"/>
          <p:nvPr/>
        </p:nvSpPr>
        <p:spPr>
          <a:xfrm>
            <a:off x="685800" y="19202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150" kern="0" dirty="0">
                <a:solidFill>
                  <a:srgbClr val="FAF4E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Vamos criar </a:t>
            </a:r>
            <a:pPr algn="l" indent="0" marL="0">
              <a:lnSpc>
                <a:spcPct val="100000"/>
              </a:lnSpc>
              <a:buNone/>
            </a:pPr>
            <a:r>
              <a:rPr lang="en-US" sz="4200" spc="-15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 intenção?</a:t>
            </a:r>
            <a:endParaRPr lang="en-US" sz="4200" dirty="0"/>
          </a:p>
        </p:txBody>
      </p:sp>
      <p:sp>
        <p:nvSpPr>
          <p:cNvPr id="9" name="Texto"/>
          <p:cNvSpPr txBox="1"/>
          <p:nvPr/>
        </p:nvSpPr>
        <p:spPr>
          <a:xfrm>
            <a:off x="685800" y="3474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 o que sua marca precisa comunicar: vídeo, evento, videocast ou conteúdo recorrente. A equipe HR responde em horário comercial com os próximos passos.</a:t>
            </a:r>
            <a:endParaRPr lang="en-US" sz="1350" dirty="0"/>
          </a:p>
        </p:txBody>
      </p:sp>
      <p:sp>
        <p:nvSpPr>
          <p:cNvPr id="10" name="Rótulo WHATSAPP"/>
          <p:cNvSpPr txBox="1"/>
          <p:nvPr/>
        </p:nvSpPr>
        <p:spPr>
          <a:xfrm>
            <a:off x="68580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WHATSAPP</a:t>
            </a:r>
            <a:endParaRPr lang="en-US" sz="850" dirty="0"/>
          </a:p>
        </p:txBody>
      </p:sp>
      <p:sp>
        <p:nvSpPr>
          <p:cNvPr id="11" name="Contato WHATSAPP"/>
          <p:cNvSpPr txBox="1"/>
          <p:nvPr/>
        </p:nvSpPr>
        <p:spPr>
          <a:xfrm>
            <a:off x="1874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(21) 98806-4041</a:t>
            </a:r>
            <a:endParaRPr lang="en-US" sz="1300" dirty="0"/>
          </a:p>
        </p:txBody>
      </p:sp>
      <p:sp>
        <p:nvSpPr>
          <p:cNvPr id="12" name="Rótulo E-MAIL"/>
          <p:cNvSpPr txBox="1"/>
          <p:nvPr/>
        </p:nvSpPr>
        <p:spPr>
          <a:xfrm>
            <a:off x="685800" y="4937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E-MAIL</a:t>
            </a:r>
            <a:endParaRPr lang="en-US" sz="850" dirty="0"/>
          </a:p>
        </p:txBody>
      </p:sp>
      <p:sp>
        <p:nvSpPr>
          <p:cNvPr id="13" name="Contato E-MAIL"/>
          <p:cNvSpPr txBox="1"/>
          <p:nvPr/>
        </p:nvSpPr>
        <p:spPr>
          <a:xfrm>
            <a:off x="187452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contato@hrcreativehub.com.br</a:t>
            </a:r>
            <a:endParaRPr lang="en-US" sz="1300" dirty="0"/>
          </a:p>
        </p:txBody>
      </p:sp>
      <p:sp>
        <p:nvSpPr>
          <p:cNvPr id="14" name="Rótulo SITE"/>
          <p:cNvSpPr txBox="1"/>
          <p:nvPr/>
        </p:nvSpPr>
        <p:spPr>
          <a:xfrm>
            <a:off x="685800" y="5303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SITE</a:t>
            </a:r>
            <a:endParaRPr lang="en-US" sz="850" dirty="0"/>
          </a:p>
        </p:txBody>
      </p:sp>
      <p:sp>
        <p:nvSpPr>
          <p:cNvPr id="15" name="Contato SITE"/>
          <p:cNvSpPr txBox="1"/>
          <p:nvPr/>
        </p:nvSpPr>
        <p:spPr>
          <a:xfrm>
            <a:off x="187452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hrcreativehub.com.br</a:t>
            </a:r>
            <a:endParaRPr lang="en-US" sz="1300" dirty="0"/>
          </a:p>
        </p:txBody>
      </p:sp>
      <p:sp>
        <p:nvSpPr>
          <p:cNvPr id="16" name="Rótulo REDES"/>
          <p:cNvSpPr txBox="1"/>
          <p:nvPr/>
        </p:nvSpPr>
        <p:spPr>
          <a:xfrm>
            <a:off x="685800" y="5669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6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REDES</a:t>
            </a:r>
            <a:endParaRPr lang="en-US" sz="850" dirty="0"/>
          </a:p>
        </p:txBody>
      </p:sp>
      <p:sp>
        <p:nvSpPr>
          <p:cNvPr id="17" name="Contato REDES"/>
          <p:cNvSpPr txBox="1"/>
          <p:nvPr/>
        </p:nvSpPr>
        <p:spPr>
          <a:xfrm>
            <a:off x="187452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4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@honradofilms  ·  linkedin.com/company/hrcreativehub</a:t>
            </a:r>
            <a:endParaRPr lang="en-US" sz="1300" dirty="0"/>
          </a:p>
        </p:txBody>
      </p:sp>
      <p:sp>
        <p:nvSpPr>
          <p:cNvPr id="18" name="Número 2019"/>
          <p:cNvSpPr txBox="1"/>
          <p:nvPr/>
        </p:nvSpPr>
        <p:spPr>
          <a:xfrm>
            <a:off x="8503920" y="2103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spc="-20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2019</a:t>
            </a:r>
            <a:endParaRPr lang="en-US" sz="4600" dirty="0"/>
          </a:p>
        </p:txBody>
      </p:sp>
      <p:sp>
        <p:nvSpPr>
          <p:cNvPr id="19" name="Legenda 2019"/>
          <p:cNvSpPr txBox="1"/>
          <p:nvPr/>
        </p:nvSpPr>
        <p:spPr>
          <a:xfrm>
            <a:off x="8503920" y="2852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BFB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FUNDADA NO RIO DE JANEIRO</a:t>
            </a:r>
            <a:endParaRPr lang="en-US" sz="800" dirty="0"/>
          </a:p>
        </p:txBody>
      </p:sp>
      <p:sp>
        <p:nvSpPr>
          <p:cNvPr id="20" name="Número 20+"/>
          <p:cNvSpPr txBox="1"/>
          <p:nvPr/>
        </p:nvSpPr>
        <p:spPr>
          <a:xfrm>
            <a:off x="85039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spc="-20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20+</a:t>
            </a:r>
            <a:endParaRPr lang="en-US" sz="4600" dirty="0"/>
          </a:p>
        </p:txBody>
      </p:sp>
      <p:sp>
        <p:nvSpPr>
          <p:cNvPr id="21" name="Legenda 20+"/>
          <p:cNvSpPr txBox="1"/>
          <p:nvPr/>
        </p:nvSpPr>
        <p:spPr>
          <a:xfrm>
            <a:off x="8503920" y="4087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BFB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MARCAS E INSTITUIÇÕES ATENDIDAS</a:t>
            </a:r>
            <a:endParaRPr lang="en-US" sz="800" dirty="0"/>
          </a:p>
        </p:txBody>
      </p:sp>
      <p:sp>
        <p:nvSpPr>
          <p:cNvPr id="22" name="Número 1"/>
          <p:cNvSpPr txBox="1"/>
          <p:nvPr/>
        </p:nvSpPr>
        <p:spPr>
          <a:xfrm>
            <a:off x="850392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spc="-200" kern="0" dirty="0">
                <a:solidFill>
                  <a:srgbClr val="FF6B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4600" dirty="0"/>
          </a:p>
        </p:txBody>
      </p:sp>
      <p:sp>
        <p:nvSpPr>
          <p:cNvPr id="23" name="Legenda 1"/>
          <p:cNvSpPr txBox="1"/>
          <p:nvPr/>
        </p:nvSpPr>
        <p:spPr>
          <a:xfrm>
            <a:off x="8503920" y="5321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BFB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 DO ROTEIRO À ENTREGA FINAL</a:t>
            </a:r>
            <a:endParaRPr lang="en-US" sz="800" dirty="0"/>
          </a:p>
        </p:txBody>
      </p:sp>
      <p:sp>
        <p:nvSpPr>
          <p:cNvPr id="24" name="Rodapé"/>
          <p:cNvSpPr txBox="1"/>
          <p:nvPr/>
        </p:nvSpPr>
        <p:spPr>
          <a:xfrm>
            <a:off x="685800" y="6291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 Creative Hub · Honrado Films LTDA · Rio de Janeiro e São Paulo · desde 2019</a:t>
            </a:r>
            <a:endParaRPr lang="en-US" sz="850" dirty="0"/>
          </a:p>
        </p:txBody>
      </p:sp>
      <p:sp>
        <p:nvSpPr>
          <p:cNvPr id="25" name="Página"/>
          <p:cNvSpPr txBox="1"/>
          <p:nvPr/>
        </p:nvSpPr>
        <p:spPr>
          <a:xfrm>
            <a:off x="10408615" y="6291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E8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CREATIVE HUB | APRESENTAÇÃO 2027</dc:title>
  <dc:subject>PptxGenJS Presentation</dc:subject>
  <dc:creator>HR Creative Hub</dc:creator>
  <cp:lastModifiedBy>HR Creative Hub</cp:lastModifiedBy>
  <cp:revision>1</cp:revision>
  <dcterms:created xsi:type="dcterms:W3CDTF">2026-10-26T03:04:14Z</dcterms:created>
  <dcterms:modified xsi:type="dcterms:W3CDTF">2026-10-26T03:04:14Z</dcterms:modified>
</cp:coreProperties>
</file>